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Professor and members of the evaluation committee.</a:t>
            </a:r>
          </a:p>
          <a:p>
            <a:r>
              <a:t>Today, I am presenting our comprehensive research project and case study on: 'Evolution and Current Landscape of Telugu–English–Tenglish Translation: A Study of Translation, Transliteration, Code-Mixing, and Modern AI Systems.'</a:t>
            </a:r>
          </a:p>
          <a:p/>
          <a:p>
            <a:r>
              <a:t>In this defense, we establish why canonical machine translation between standard Telugu script and English is already mature in commercial engines, identify the critical remaining research bottleneck in conversational social media 'Tenglish', and present our local GPU-accelerated solution: NormMix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 this slide establishes our 3-pillar narrative: formal translation is mature, conversational Tenglish is unsolved, and NormMix AI bridges this exact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pedagogical primer defines the theoretical foundations: differentiating language from script, translation from transliteration, and code-mixing from code-switching.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 this timeline establishes our deep literature grounding: tracing from 1985 RBMT to IIIT-H Paninian Anusaaraka, SMT, Transformers, and present-day multimodal systems.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benchmark matrix contrasts Google, Meta, AI4Bharat, and Sarvam. Commercial systems dominate formal script, while NormMix AI targets real-time code-mixed loanword preservation.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four root causes of failure: orthographic inconsistency, agglutinative loanwords, subword token shattering, and blind phonetic transliteration.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breaks down our core architecture: 2-layer BiGRU, Scaled Dot-Product Attention, Pointer-Generator copy gate, and vectorized beam search.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Professor, this slide explains the engineering why: Why BiGRU instead of an LLM, why Scaled Dot Attention, why Character Tokenization, and why FastAPI.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walks through the exact mathematical equations and execution trace of the Pointer-Generator Copy Mechanism on a real code-mixed sentence.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benchmark table proves our performance: 5.37% CER vs 48.2% baseline, 79.84 BLEU, and 100% English token accuracy.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four simultaneous outputs generated by OmniProcessor: Standard Normalized, All Telugu, All Tanglish, and Pure English.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showcases the frontend ecosystem: the interactive Web Translation Studio with voice and virtual keyboard, and the Manifest V3 Chrome Extension.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demonstrates academic maturity: highlighting our strengths while openly acknowledging limitations and open research questions.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Professor and committee members. I am now ready to demonstrate the live Web Studio and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0728655" cy="5394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731520"/>
            <a:ext cx="10728655"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097280"/>
            <a:ext cx="9966960" cy="4572000"/>
          </a:xfrm>
          <a:prstGeom prst="rect">
            <a:avLst/>
          </a:prstGeom>
          <a:noFill/>
        </p:spPr>
        <p:txBody>
          <a:bodyPr wrap="square">
            <a:spAutoFit/>
          </a:bodyPr>
          <a:lstStyle/>
          <a:p>
            <a:pPr>
              <a:spcAft>
                <a:spcPts val="1400"/>
              </a:spcAft>
              <a:defRPr sz="1100" b="1">
                <a:solidFill>
                  <a:srgbClr val="059669"/>
                </a:solidFill>
              </a:defRPr>
            </a:pPr>
            <a:r>
              <a:t>ADVANCED ARTIFICIAL INTELLIGENCE &amp; NEURAL NETWORKS (AAN) MINI-PROJECT</a:t>
            </a:r>
          </a:p>
          <a:p>
            <a:pPr>
              <a:spcAft>
                <a:spcPts val="1200"/>
              </a:spcAft>
              <a:defRPr sz="3200" b="1">
                <a:solidFill>
                  <a:srgbClr val="0F172A"/>
                </a:solidFill>
              </a:defRPr>
            </a:pPr>
            <a:r>
              <a:t>Evolution and Current Landscape of</a:t>
            </a:r>
            <a:br/>
            <a:r>
              <a:t>Telugu–English–Tenglish Translation</a:t>
            </a:r>
          </a:p>
          <a:p>
            <a:pPr>
              <a:spcAft>
                <a:spcPts val="2800"/>
              </a:spcAft>
              <a:defRPr sz="1500">
                <a:solidFill>
                  <a:srgbClr val="64748B"/>
                </a:solidFill>
              </a:defRPr>
            </a:pPr>
            <a:r>
              <a:t>A Comprehensive Study of Translation, Transliteration, Code-Mixing, and the NormMix AI Pointer-Generator Architecture</a:t>
            </a:r>
          </a:p>
          <a:p>
            <a:pPr>
              <a:defRPr sz="1100">
                <a:solidFill>
                  <a:srgbClr val="1E3A8A"/>
                </a:solidFill>
              </a:defRPr>
            </a:pPr>
            <a:r>
              <a:t>Author / Candidate Defense to Faculty Review Committee</a:t>
            </a:r>
            <a:br/>
            <a:r>
              <a:t>System Architecture: 2-Layer BiGRU + Scaled Dot Attention + Pointer-Generator Copy Mechanism (NVIDIA RTX 4060 GPU Accelerated)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Executive Overview &amp; Central Research Inquiries</a:t>
            </a:r>
          </a:p>
        </p:txBody>
      </p:sp>
      <p:sp>
        <p:nvSpPr>
          <p:cNvPr id="5" name="Rounded Rectangle 4"/>
          <p:cNvSpPr/>
          <p:nvPr/>
        </p:nvSpPr>
        <p:spPr>
          <a:xfrm>
            <a:off x="731520" y="1508760"/>
            <a:ext cx="3474720" cy="4206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3108960" cy="3840480"/>
          </a:xfrm>
          <a:prstGeom prst="rect">
            <a:avLst/>
          </a:prstGeom>
          <a:noFill/>
        </p:spPr>
        <p:txBody>
          <a:bodyPr wrap="square">
            <a:spAutoFit/>
          </a:bodyPr>
          <a:lstStyle/>
          <a:p>
            <a:pPr>
              <a:spcAft>
                <a:spcPts val="1000"/>
              </a:spcAft>
              <a:defRPr sz="1500" b="1">
                <a:solidFill>
                  <a:srgbClr val="1E3A8A"/>
                </a:solidFill>
              </a:defRPr>
            </a:pPr>
            <a:r>
              <a:t>The Scientific Progression</a:t>
            </a:r>
          </a:p>
          <a:p>
            <a:pPr>
              <a:defRPr sz="1100">
                <a:solidFill>
                  <a:srgbClr val="1E293B"/>
                </a:solidFill>
              </a:defRPr>
            </a:pPr>
            <a:r>
              <a:t>• 40-year trajectory from Rule-Based MT (Anusaaraka) to SMT, NMT, Transformers, and LLMs.</a:t>
            </a:r>
            <a:br/>
            <a:r>
              <a:t>• Standard Telugu script ↔ English translation is mature and production-ready in Google/IndicTrans2.</a:t>
            </a:r>
            <a:br/>
            <a:r>
              <a:t>• Formal datasets (Samanantar) supply 10.5M parallel sentences for literary/governmental domains.</a:t>
            </a:r>
          </a:p>
        </p:txBody>
      </p:sp>
      <p:sp>
        <p:nvSpPr>
          <p:cNvPr id="7" name="Rounded Rectangle 6"/>
          <p:cNvSpPr/>
          <p:nvPr/>
        </p:nvSpPr>
        <p:spPr>
          <a:xfrm>
            <a:off x="4343400" y="1508760"/>
            <a:ext cx="3474720" cy="4206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91640"/>
            <a:ext cx="3108960" cy="3840480"/>
          </a:xfrm>
          <a:prstGeom prst="rect">
            <a:avLst/>
          </a:prstGeom>
          <a:noFill/>
        </p:spPr>
        <p:txBody>
          <a:bodyPr wrap="square">
            <a:spAutoFit/>
          </a:bodyPr>
          <a:lstStyle/>
          <a:p>
            <a:pPr>
              <a:spcAft>
                <a:spcPts val="1000"/>
              </a:spcAft>
              <a:defRPr sz="1500" b="1">
                <a:solidFill>
                  <a:srgbClr val="1E3A8A"/>
                </a:solidFill>
              </a:defRPr>
            </a:pPr>
            <a:r>
              <a:t>The Unsolved Linguistic Gap</a:t>
            </a:r>
          </a:p>
          <a:p>
            <a:pPr>
              <a:defRPr sz="1100">
                <a:solidFill>
                  <a:srgbClr val="1E293B"/>
                </a:solidFill>
              </a:defRPr>
            </a:pPr>
            <a:r>
              <a:t>• 95M+ speakers communicate digitally in 'Tenglish' (Latin script + intra-sentential code-mixing).</a:t>
            </a:r>
            <a:br/>
            <a:r>
              <a:t>• Unstandardized phonetic orthography, abbreviations (clg, intrvw), and Telugu-inflected loanwords.</a:t>
            </a:r>
            <a:br/>
            <a:r>
              <a:t>• Standard subword tokenizers (BPE) shatter Tenglish tokens, causing catastrophic MT failure.</a:t>
            </a:r>
          </a:p>
        </p:txBody>
      </p:sp>
      <p:sp>
        <p:nvSpPr>
          <p:cNvPr id="9" name="Rounded Rectangle 8"/>
          <p:cNvSpPr/>
          <p:nvPr/>
        </p:nvSpPr>
        <p:spPr>
          <a:xfrm>
            <a:off x="7955280" y="1508760"/>
            <a:ext cx="3474720" cy="4206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691640"/>
            <a:ext cx="3108960" cy="3840480"/>
          </a:xfrm>
          <a:prstGeom prst="rect">
            <a:avLst/>
          </a:prstGeom>
          <a:noFill/>
        </p:spPr>
        <p:txBody>
          <a:bodyPr wrap="square">
            <a:spAutoFit/>
          </a:bodyPr>
          <a:lstStyle/>
          <a:p>
            <a:pPr>
              <a:spcAft>
                <a:spcPts val="1000"/>
              </a:spcAft>
              <a:defRPr sz="1500" b="1">
                <a:solidFill>
                  <a:srgbClr val="1E3A8A"/>
                </a:solidFill>
              </a:defRPr>
            </a:pPr>
            <a:r>
              <a:t>Case-Study Implementation</a:t>
            </a:r>
          </a:p>
          <a:p>
            <a:pPr>
              <a:defRPr sz="1100">
                <a:solidFill>
                  <a:srgbClr val="1E293B"/>
                </a:solidFill>
              </a:defRPr>
            </a:pPr>
            <a:r>
              <a:t>• NormMix AI: An experimental prototype deployed on RTX 4060 GPU with sub-10ms latency.</a:t>
            </a:r>
            <a:br/>
            <a:r>
              <a:t>• 2-Layer BiGRU + Scaled Dot-Product Attention + Pointer-Generator Copy Mechanism.</a:t>
            </a:r>
            <a:br/>
            <a:r>
              <a:t>• Guaranteed 100% preservation of English loanwords via trainable copy gate p_gen.</a:t>
            </a:r>
            <a:br/>
            <a:r>
              <a:t>• Packaged into an interactive Web Translation Studio &amp; Manifest V3 Chrome Extension.</a:t>
            </a:r>
          </a:p>
        </p:txBody>
      </p:sp>
      <p:sp>
        <p:nvSpPr>
          <p:cNvPr id="11" name="Rounded Rectangle 10"/>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Formal Telugu MT is a solved industry task; conversational code-mixed Tanglish normalization is the true unsolved NLP frontier.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Pedagogical Primer: Disentangling Language, Script &amp; Tasks</a:t>
            </a:r>
          </a:p>
        </p:txBody>
      </p:sp>
      <p:sp>
        <p:nvSpPr>
          <p:cNvPr id="5" name="Rounded Rectangle 4"/>
          <p:cNvSpPr/>
          <p:nvPr/>
        </p:nvSpPr>
        <p:spPr>
          <a:xfrm>
            <a:off x="731520" y="1508760"/>
            <a:ext cx="34747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18488"/>
            <a:ext cx="3200400" cy="1737360"/>
          </a:xfrm>
          <a:prstGeom prst="rect">
            <a:avLst/>
          </a:prstGeom>
          <a:noFill/>
        </p:spPr>
        <p:txBody>
          <a:bodyPr wrap="square">
            <a:spAutoFit/>
          </a:bodyPr>
          <a:lstStyle/>
          <a:p>
            <a:pPr>
              <a:spcAft>
                <a:spcPts val="400"/>
              </a:spcAft>
              <a:defRPr sz="1300" b="1">
                <a:solidFill>
                  <a:srgbClr val="1E3A8A"/>
                </a:solidFill>
              </a:defRPr>
            </a:pPr>
            <a:r>
              <a:t>Language vs. Script</a:t>
            </a:r>
          </a:p>
          <a:p>
            <a:pPr>
              <a:defRPr sz="1000">
                <a:solidFill>
                  <a:srgbClr val="1E293B"/>
                </a:solidFill>
              </a:defRPr>
            </a:pPr>
            <a:r>
              <a:t>Language: Cognitive semantic system (Telugu: Dravidian, SOV).</a:t>
            </a:r>
            <a:br/>
            <a:r>
              <a:t>Script: Visual orthographic system (Telugu Lipi vs. Latin alphabet).</a:t>
            </a:r>
            <a:br/>
            <a:r>
              <a:t>Tenglish is NOT a new language—it is Telugu transcribed in Latin script.</a:t>
            </a:r>
          </a:p>
        </p:txBody>
      </p:sp>
      <p:sp>
        <p:nvSpPr>
          <p:cNvPr id="7" name="Rounded Rectangle 6"/>
          <p:cNvSpPr/>
          <p:nvPr/>
        </p:nvSpPr>
        <p:spPr>
          <a:xfrm>
            <a:off x="4343400" y="1508760"/>
            <a:ext cx="34747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1618488"/>
            <a:ext cx="3200400" cy="1737360"/>
          </a:xfrm>
          <a:prstGeom prst="rect">
            <a:avLst/>
          </a:prstGeom>
          <a:noFill/>
        </p:spPr>
        <p:txBody>
          <a:bodyPr wrap="square">
            <a:spAutoFit/>
          </a:bodyPr>
          <a:lstStyle/>
          <a:p>
            <a:pPr>
              <a:spcAft>
                <a:spcPts val="400"/>
              </a:spcAft>
              <a:defRPr sz="1300" b="1">
                <a:solidFill>
                  <a:srgbClr val="1E3A8A"/>
                </a:solidFill>
              </a:defRPr>
            </a:pPr>
            <a:r>
              <a:t>Translation</a:t>
            </a:r>
          </a:p>
          <a:p>
            <a:pPr>
              <a:defRPr sz="1000">
                <a:solidFill>
                  <a:srgbClr val="1E293B"/>
                </a:solidFill>
              </a:defRPr>
            </a:pPr>
            <a:r>
              <a:t>Semantic transfer across different languages.</a:t>
            </a:r>
            <a:br/>
            <a:r>
              <a:t>Preserves meaning while restructuring syntax.</a:t>
            </a:r>
            <a:br/>
            <a:r>
              <a:t>Example: 'నేను కాలేజీకి వెళ్తున్నాను' -&gt; 'I am going to college.'</a:t>
            </a:r>
          </a:p>
        </p:txBody>
      </p:sp>
      <p:sp>
        <p:nvSpPr>
          <p:cNvPr id="9" name="Rounded Rectangle 8"/>
          <p:cNvSpPr/>
          <p:nvPr/>
        </p:nvSpPr>
        <p:spPr>
          <a:xfrm>
            <a:off x="7955280" y="1508760"/>
            <a:ext cx="34747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618488"/>
            <a:ext cx="3200400" cy="1737360"/>
          </a:xfrm>
          <a:prstGeom prst="rect">
            <a:avLst/>
          </a:prstGeom>
          <a:noFill/>
        </p:spPr>
        <p:txBody>
          <a:bodyPr wrap="square">
            <a:spAutoFit/>
          </a:bodyPr>
          <a:lstStyle/>
          <a:p>
            <a:pPr>
              <a:spcAft>
                <a:spcPts val="400"/>
              </a:spcAft>
              <a:defRPr sz="1300" b="1">
                <a:solidFill>
                  <a:srgbClr val="1E3A8A"/>
                </a:solidFill>
              </a:defRPr>
            </a:pPr>
            <a:r>
              <a:t>Transliteration / Romanization</a:t>
            </a:r>
          </a:p>
          <a:p>
            <a:pPr>
              <a:defRPr sz="1000">
                <a:solidFill>
                  <a:srgbClr val="1E293B"/>
                </a:solidFill>
              </a:defRPr>
            </a:pPr>
            <a:r>
              <a:t>Phonetic mapping across scripts without semantic change.</a:t>
            </a:r>
            <a:br/>
            <a:r>
              <a:t>Romanization maps non-Latin script explicitly into Latin script.</a:t>
            </a:r>
            <a:br/>
            <a:r>
              <a:t>Example: 'కాలేజీ' (Telugu script) &lt;-&gt; 'college / kaaleeji' (Latin).</a:t>
            </a:r>
          </a:p>
        </p:txBody>
      </p:sp>
      <p:sp>
        <p:nvSpPr>
          <p:cNvPr id="11" name="Rounded Rectangle 10"/>
          <p:cNvSpPr/>
          <p:nvPr/>
        </p:nvSpPr>
        <p:spPr>
          <a:xfrm>
            <a:off x="731520" y="3657600"/>
            <a:ext cx="34747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767328"/>
            <a:ext cx="3200400" cy="1737360"/>
          </a:xfrm>
          <a:prstGeom prst="rect">
            <a:avLst/>
          </a:prstGeom>
          <a:noFill/>
        </p:spPr>
        <p:txBody>
          <a:bodyPr wrap="square">
            <a:spAutoFit/>
          </a:bodyPr>
          <a:lstStyle/>
          <a:p>
            <a:pPr>
              <a:spcAft>
                <a:spcPts val="400"/>
              </a:spcAft>
              <a:defRPr sz="1300" b="1">
                <a:solidFill>
                  <a:srgbClr val="1E3A8A"/>
                </a:solidFill>
              </a:defRPr>
            </a:pPr>
            <a:r>
              <a:t>Code-Switching vs. Code-Mixing</a:t>
            </a:r>
          </a:p>
          <a:p>
            <a:pPr>
              <a:defRPr sz="1000">
                <a:solidFill>
                  <a:srgbClr val="1E293B"/>
                </a:solidFill>
              </a:defRPr>
            </a:pPr>
            <a:r>
              <a:t>Code-Switching: Alternating at complete clause boundaries.</a:t>
            </a:r>
            <a:br/>
            <a:r>
              <a:t>Code-Mixing: Intra-sentential embedding of English words into Telugu grammar: 'naku clg lo exam undi bro'.</a:t>
            </a:r>
          </a:p>
        </p:txBody>
      </p:sp>
      <p:sp>
        <p:nvSpPr>
          <p:cNvPr id="13" name="Rounded Rectangle 12"/>
          <p:cNvSpPr/>
          <p:nvPr/>
        </p:nvSpPr>
        <p:spPr>
          <a:xfrm>
            <a:off x="4343400" y="3657600"/>
            <a:ext cx="34747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3767328"/>
            <a:ext cx="3200400" cy="1737360"/>
          </a:xfrm>
          <a:prstGeom prst="rect">
            <a:avLst/>
          </a:prstGeom>
          <a:noFill/>
        </p:spPr>
        <p:txBody>
          <a:bodyPr wrap="square">
            <a:spAutoFit/>
          </a:bodyPr>
          <a:lstStyle/>
          <a:p>
            <a:pPr>
              <a:spcAft>
                <a:spcPts val="400"/>
              </a:spcAft>
              <a:defRPr sz="1300" b="1">
                <a:solidFill>
                  <a:srgbClr val="1E3A8A"/>
                </a:solidFill>
              </a:defRPr>
            </a:pPr>
            <a:r>
              <a:t>Text Normalization</a:t>
            </a:r>
          </a:p>
          <a:p>
            <a:pPr>
              <a:defRPr sz="1000">
                <a:solidFill>
                  <a:srgbClr val="1E293B"/>
                </a:solidFill>
              </a:defRPr>
            </a:pPr>
            <a:r>
              <a:t>Transforming noisy, colloquial, or Romanized orthography into canonical, standardized tokens: 'clg ki velthunna bro' -&gt; 'కాలేజీకి వెళ్తున్నాను, bro'.</a:t>
            </a:r>
          </a:p>
        </p:txBody>
      </p:sp>
      <p:sp>
        <p:nvSpPr>
          <p:cNvPr id="15" name="Rounded Rectangle 14"/>
          <p:cNvSpPr/>
          <p:nvPr/>
        </p:nvSpPr>
        <p:spPr>
          <a:xfrm>
            <a:off x="7955280" y="3657600"/>
            <a:ext cx="34747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440" y="3767328"/>
            <a:ext cx="3200400" cy="1737360"/>
          </a:xfrm>
          <a:prstGeom prst="rect">
            <a:avLst/>
          </a:prstGeom>
          <a:noFill/>
        </p:spPr>
        <p:txBody>
          <a:bodyPr wrap="square">
            <a:spAutoFit/>
          </a:bodyPr>
          <a:lstStyle/>
          <a:p>
            <a:pPr>
              <a:spcAft>
                <a:spcPts val="400"/>
              </a:spcAft>
              <a:defRPr sz="1300" b="1">
                <a:solidFill>
                  <a:srgbClr val="1E3A8A"/>
                </a:solidFill>
              </a:defRPr>
            </a:pPr>
            <a:r>
              <a:t>The Tokenizer Bottleneck</a:t>
            </a:r>
          </a:p>
          <a:p>
            <a:pPr>
              <a:defRPr sz="1000">
                <a:solidFill>
                  <a:srgbClr val="1E293B"/>
                </a:solidFill>
              </a:defRPr>
            </a:pPr>
            <a:r>
              <a:t>Why LLMs fail on Tenglish: Subword tokenizers (BPE) split 'velthunnanu' into 5 character shards, destroying semantic representations.</a:t>
            </a:r>
          </a:p>
        </p:txBody>
      </p:sp>
      <p:sp>
        <p:nvSpPr>
          <p:cNvPr id="17" name="Rounded Rectangle 16"/>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Understanding the precise distinction between translation (meaning) and transliteration (script) is essential to solving code-mixing.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Chronological Evolution of Indian Language MT (1985–2026)</a:t>
            </a:r>
          </a:p>
        </p:txBody>
      </p:sp>
      <p:sp>
        <p:nvSpPr>
          <p:cNvPr id="5" name="Rounded Rectangle 4"/>
          <p:cNvSpPr/>
          <p:nvPr/>
        </p:nvSpPr>
        <p:spPr>
          <a:xfrm>
            <a:off x="731520" y="1508760"/>
            <a:ext cx="530352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5029200" cy="1097280"/>
          </a:xfrm>
          <a:prstGeom prst="rect">
            <a:avLst/>
          </a:prstGeom>
          <a:noFill/>
        </p:spPr>
        <p:txBody>
          <a:bodyPr wrap="square">
            <a:spAutoFit/>
          </a:bodyPr>
          <a:lstStyle/>
          <a:p>
            <a:pPr>
              <a:spcAft>
                <a:spcPts val="300"/>
              </a:spcAft>
              <a:defRPr sz="1200" b="1">
                <a:solidFill>
                  <a:srgbClr val="1E3A8A"/>
                </a:solidFill>
              </a:defRPr>
            </a:pPr>
            <a:r>
              <a:t>1985–1995: Rule-Based MT (RBMT)</a:t>
            </a:r>
          </a:p>
          <a:p>
            <a:pPr>
              <a:defRPr sz="950">
                <a:solidFill>
                  <a:srgbClr val="1E293B"/>
                </a:solidFill>
              </a:defRPr>
            </a:pPr>
            <a:r>
              <a:t>TDIL Initiative, Anglabharti, MaTra. Structural transfer via hand-crafted grammar trees.</a:t>
            </a:r>
            <a:br/>
            <a:r>
              <a:t>Limitation: Combinatorial rule explosion; brittle on colloquial variations.</a:t>
            </a:r>
          </a:p>
        </p:txBody>
      </p:sp>
      <p:sp>
        <p:nvSpPr>
          <p:cNvPr id="7" name="Rounded Rectangle 6"/>
          <p:cNvSpPr/>
          <p:nvPr/>
        </p:nvSpPr>
        <p:spPr>
          <a:xfrm>
            <a:off x="6172200" y="1508760"/>
            <a:ext cx="530352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600200"/>
            <a:ext cx="5029200" cy="1097280"/>
          </a:xfrm>
          <a:prstGeom prst="rect">
            <a:avLst/>
          </a:prstGeom>
          <a:noFill/>
        </p:spPr>
        <p:txBody>
          <a:bodyPr wrap="square">
            <a:spAutoFit/>
          </a:bodyPr>
          <a:lstStyle/>
          <a:p>
            <a:pPr>
              <a:spcAft>
                <a:spcPts val="300"/>
              </a:spcAft>
              <a:defRPr sz="1200" b="1">
                <a:solidFill>
                  <a:srgbClr val="1E3A8A"/>
                </a:solidFill>
              </a:defRPr>
            </a:pPr>
            <a:r>
              <a:t>1995–2005: Paninian Grammar &amp; Anusaaraka</a:t>
            </a:r>
          </a:p>
          <a:p>
            <a:pPr>
              <a:defRPr sz="950">
                <a:solidFill>
                  <a:srgbClr val="1E293B"/>
                </a:solidFill>
              </a:defRPr>
            </a:pPr>
            <a:r>
              <a:t>Akshar Bharati (IIIT-H, Sangal, Chaitanya, Kulkarni). Karaka dependency theory mapped to Telugu case markers.</a:t>
            </a:r>
            <a:br/>
            <a:r>
              <a:t>Limitation: Constrained domain coverage; dependency on hand-built morphological parsers.</a:t>
            </a:r>
          </a:p>
        </p:txBody>
      </p:sp>
      <p:sp>
        <p:nvSpPr>
          <p:cNvPr id="9" name="Rounded Rectangle 8"/>
          <p:cNvSpPr/>
          <p:nvPr/>
        </p:nvSpPr>
        <p:spPr>
          <a:xfrm>
            <a:off x="731520" y="2926080"/>
            <a:ext cx="530352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017520"/>
            <a:ext cx="5029200" cy="1097280"/>
          </a:xfrm>
          <a:prstGeom prst="rect">
            <a:avLst/>
          </a:prstGeom>
          <a:noFill/>
        </p:spPr>
        <p:txBody>
          <a:bodyPr wrap="square">
            <a:spAutoFit/>
          </a:bodyPr>
          <a:lstStyle/>
          <a:p>
            <a:pPr>
              <a:spcAft>
                <a:spcPts val="300"/>
              </a:spcAft>
              <a:defRPr sz="1200" b="1">
                <a:solidFill>
                  <a:srgbClr val="1E3A8A"/>
                </a:solidFill>
              </a:defRPr>
            </a:pPr>
            <a:r>
              <a:t>2005–2014: Statistical MT (SMT)</a:t>
            </a:r>
          </a:p>
          <a:p>
            <a:pPr>
              <a:defRPr sz="950">
                <a:solidFill>
                  <a:srgbClr val="1E293B"/>
                </a:solidFill>
              </a:defRPr>
            </a:pPr>
            <a:r>
              <a:t>IBM Models, Moses Toolkit, GIZA++. Phrase-based probabilistic alignment and n-gram LMs.</a:t>
            </a:r>
            <a:br/>
            <a:r>
              <a:t>Limitation: Telugu's agglutinative morphology caused severe vocabulary sparsity and OOV errors.</a:t>
            </a:r>
          </a:p>
        </p:txBody>
      </p:sp>
      <p:sp>
        <p:nvSpPr>
          <p:cNvPr id="11" name="Rounded Rectangle 10"/>
          <p:cNvSpPr/>
          <p:nvPr/>
        </p:nvSpPr>
        <p:spPr>
          <a:xfrm>
            <a:off x="6172200" y="2926080"/>
            <a:ext cx="530352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017520"/>
            <a:ext cx="5029200" cy="1097280"/>
          </a:xfrm>
          <a:prstGeom prst="rect">
            <a:avLst/>
          </a:prstGeom>
          <a:noFill/>
        </p:spPr>
        <p:txBody>
          <a:bodyPr wrap="square">
            <a:spAutoFit/>
          </a:bodyPr>
          <a:lstStyle/>
          <a:p>
            <a:pPr>
              <a:spcAft>
                <a:spcPts val="300"/>
              </a:spcAft>
              <a:defRPr sz="1200" b="1">
                <a:solidFill>
                  <a:srgbClr val="1E3A8A"/>
                </a:solidFill>
              </a:defRPr>
            </a:pPr>
            <a:r>
              <a:t>2014–2017: Neural MT (Seq2Seq + Attention)</a:t>
            </a:r>
          </a:p>
          <a:p>
            <a:pPr>
              <a:defRPr sz="950">
                <a:solidFill>
                  <a:srgbClr val="1E293B"/>
                </a:solidFill>
              </a:defRPr>
            </a:pPr>
            <a:r>
              <a:t>RNN/LSTM/GRU (Sutskever, Cho), Bahdanau &amp; Luong Attention. Google GNMT (2017) and MS Translator.</a:t>
            </a:r>
            <a:br/>
            <a:r>
              <a:t>Limitation: Sequential computation bottleneck prevented horizontal GPU scaling.</a:t>
            </a:r>
          </a:p>
        </p:txBody>
      </p:sp>
      <p:sp>
        <p:nvSpPr>
          <p:cNvPr id="13" name="Rounded Rectangle 12"/>
          <p:cNvSpPr/>
          <p:nvPr/>
        </p:nvSpPr>
        <p:spPr>
          <a:xfrm>
            <a:off x="731520" y="4343400"/>
            <a:ext cx="530352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434840"/>
            <a:ext cx="5029200" cy="1097280"/>
          </a:xfrm>
          <a:prstGeom prst="rect">
            <a:avLst/>
          </a:prstGeom>
          <a:noFill/>
        </p:spPr>
        <p:txBody>
          <a:bodyPr wrap="square">
            <a:spAutoFit/>
          </a:bodyPr>
          <a:lstStyle/>
          <a:p>
            <a:pPr>
              <a:spcAft>
                <a:spcPts val="300"/>
              </a:spcAft>
              <a:defRPr sz="1200" b="1">
                <a:solidFill>
                  <a:srgbClr val="1E3A8A"/>
                </a:solidFill>
              </a:defRPr>
            </a:pPr>
            <a:r>
              <a:t>2017–2022: Dense Multilingual Transformers</a:t>
            </a:r>
          </a:p>
          <a:p>
            <a:pPr>
              <a:defRPr sz="950">
                <a:solidFill>
                  <a:srgbClr val="1E293B"/>
                </a:solidFill>
              </a:defRPr>
            </a:pPr>
            <a:r>
              <a:t>Vaswani et al. (2017). AI4Bharat Samanantar (10.5M Telugu pairs), Google Dakshina, Aksharantar, IndicXlit.</a:t>
            </a:r>
            <a:br/>
            <a:r>
              <a:t>Limitation: Subword tokenizers (BPE) trained on formal text fail on noisy Romanized scripts.</a:t>
            </a:r>
          </a:p>
        </p:txBody>
      </p:sp>
      <p:sp>
        <p:nvSpPr>
          <p:cNvPr id="15" name="Rounded Rectangle 14"/>
          <p:cNvSpPr/>
          <p:nvPr/>
        </p:nvSpPr>
        <p:spPr>
          <a:xfrm>
            <a:off x="6172200" y="4343400"/>
            <a:ext cx="5303520" cy="12801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4434840"/>
            <a:ext cx="5029200" cy="1097280"/>
          </a:xfrm>
          <a:prstGeom prst="rect">
            <a:avLst/>
          </a:prstGeom>
          <a:noFill/>
        </p:spPr>
        <p:txBody>
          <a:bodyPr wrap="square">
            <a:spAutoFit/>
          </a:bodyPr>
          <a:lstStyle/>
          <a:p>
            <a:pPr>
              <a:spcAft>
                <a:spcPts val="300"/>
              </a:spcAft>
              <a:defRPr sz="1200" b="1">
                <a:solidFill>
                  <a:srgbClr val="1E3A8A"/>
                </a:solidFill>
              </a:defRPr>
            </a:pPr>
            <a:r>
              <a:t>2023–2026: Generative LLMs, Sarvam &amp; Multimodal AI</a:t>
            </a:r>
          </a:p>
          <a:p>
            <a:pPr>
              <a:defRPr sz="950">
                <a:solidFill>
                  <a:srgbClr val="1E293B"/>
                </a:solidFill>
              </a:defRPr>
            </a:pPr>
            <a:r>
              <a:t>IndicTrans2, Sarvam-1, Meta SeamlessM4T, GPT-4o. Speech-to-speech and multimodal foundational models.</a:t>
            </a:r>
            <a:br/>
            <a:r>
              <a:t>Current Frontier: Low-latency context-aware Tenglish code-mixed normalization and browser inference.</a:t>
            </a:r>
          </a:p>
        </p:txBody>
      </p:sp>
      <p:sp>
        <p:nvSpPr>
          <p:cNvPr id="17" name="Rounded Rectangle 16"/>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Indian NLP has traversed five technological paradigms over 40 years; modern research centers on code-mixed and low-resource registers.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Existing Technology Landscape: Commercial vs. Research Systems</a:t>
            </a:r>
          </a:p>
        </p:txBody>
      </p:sp>
      <p:graphicFrame>
        <p:nvGraphicFramePr>
          <p:cNvPr id="5" name="Table 4"/>
          <p:cNvGraphicFramePr>
            <a:graphicFrameLocks noGrp="1"/>
          </p:cNvGraphicFramePr>
          <p:nvPr/>
        </p:nvGraphicFramePr>
        <p:xfrm>
          <a:off x="731520" y="1463040"/>
          <a:ext cx="10698480" cy="4206240"/>
        </p:xfrm>
        <a:graphic>
          <a:graphicData uri="http://schemas.openxmlformats.org/drawingml/2006/table">
            <a:tbl>
              <a:tblPr firstRow="1" bandRow="1">
                <a:tableStyleId>{5C22544A-7EE6-4342-B048-85BDC9FD1C3A}</a:tableStyleId>
              </a:tblPr>
              <a:tblGrid>
                <a:gridCol w="1554480"/>
                <a:gridCol w="1097280"/>
                <a:gridCol w="2011680"/>
                <a:gridCol w="2286000"/>
                <a:gridCol w="2103120"/>
                <a:gridCol w="1645920"/>
              </a:tblGrid>
              <a:tr h="525780">
                <a:tc>
                  <a:txBody>
                    <a:bodyPr/>
                    <a:lstStyle/>
                    <a:p>
                      <a:pPr>
                        <a:defRPr sz="1000" b="1">
                          <a:solidFill>
                            <a:srgbClr val="FFFFFF"/>
                          </a:solidFill>
                        </a:defRPr>
                      </a:pPr>
                      <a:r>
                        <a:t>System</a:t>
                      </a:r>
                    </a:p>
                  </a:txBody>
                  <a:tcPr>
                    <a:solidFill>
                      <a:srgbClr val="1E3A8A"/>
                    </a:solidFill>
                  </a:tcPr>
                </a:tc>
                <a:tc>
                  <a:txBody>
                    <a:bodyPr/>
                    <a:lstStyle/>
                    <a:p>
                      <a:pPr>
                        <a:defRPr sz="1000" b="1">
                          <a:solidFill>
                            <a:srgbClr val="FFFFFF"/>
                          </a:solidFill>
                        </a:defRPr>
                      </a:pPr>
                      <a:r>
                        <a:t>Provider</a:t>
                      </a:r>
                    </a:p>
                  </a:txBody>
                  <a:tcPr>
                    <a:solidFill>
                      <a:srgbClr val="1E3A8A"/>
                    </a:solidFill>
                  </a:tcPr>
                </a:tc>
                <a:tc>
                  <a:txBody>
                    <a:bodyPr/>
                    <a:lstStyle/>
                    <a:p>
                      <a:pPr>
                        <a:defRPr sz="1000" b="1">
                          <a:solidFill>
                            <a:srgbClr val="FFFFFF"/>
                          </a:solidFill>
                        </a:defRPr>
                      </a:pPr>
                      <a:r>
                        <a:t>Architecture / Paradigm</a:t>
                      </a:r>
                    </a:p>
                  </a:txBody>
                  <a:tcPr>
                    <a:solidFill>
                      <a:srgbClr val="1E3A8A"/>
                    </a:solidFill>
                  </a:tcPr>
                </a:tc>
                <a:tc>
                  <a:txBody>
                    <a:bodyPr/>
                    <a:lstStyle/>
                    <a:p>
                      <a:pPr>
                        <a:defRPr sz="1000" b="1">
                          <a:solidFill>
                            <a:srgbClr val="FFFFFF"/>
                          </a:solidFill>
                        </a:defRPr>
                      </a:pPr>
                      <a:r>
                        <a:t>Telugu Script Coverage</a:t>
                      </a:r>
                    </a:p>
                  </a:txBody>
                  <a:tcPr>
                    <a:solidFill>
                      <a:srgbClr val="1E3A8A"/>
                    </a:solidFill>
                  </a:tcPr>
                </a:tc>
                <a:tc>
                  <a:txBody>
                    <a:bodyPr/>
                    <a:lstStyle/>
                    <a:p>
                      <a:pPr>
                        <a:defRPr sz="1000" b="1">
                          <a:solidFill>
                            <a:srgbClr val="FFFFFF"/>
                          </a:solidFill>
                        </a:defRPr>
                      </a:pPr>
                      <a:r>
                        <a:t>Tenglish / Code-Mix</a:t>
                      </a:r>
                    </a:p>
                  </a:txBody>
                  <a:tcPr>
                    <a:solidFill>
                      <a:srgbClr val="1E3A8A"/>
                    </a:solidFill>
                  </a:tcPr>
                </a:tc>
                <a:tc>
                  <a:txBody>
                    <a:bodyPr/>
                    <a:lstStyle/>
                    <a:p>
                      <a:pPr>
                        <a:defRPr sz="1000" b="1">
                          <a:solidFill>
                            <a:srgbClr val="FFFFFF"/>
                          </a:solidFill>
                        </a:defRPr>
                      </a:pPr>
                      <a:r>
                        <a:t>Latency &amp; Deploy</a:t>
                      </a:r>
                    </a:p>
                  </a:txBody>
                  <a:tcPr>
                    <a:solidFill>
                      <a:srgbClr val="1E3A8A"/>
                    </a:solidFill>
                  </a:tcPr>
                </a:tc>
              </a:tr>
              <a:tr h="525780">
                <a:tc>
                  <a:txBody>
                    <a:bodyPr/>
                    <a:lstStyle/>
                    <a:p>
                      <a:pPr>
                        <a:defRPr sz="900">
                          <a:solidFill>
                            <a:srgbClr val="1E293B"/>
                          </a:solidFill>
                        </a:defRPr>
                      </a:pPr>
                      <a:r>
                        <a:t>Google Translate</a:t>
                      </a:r>
                    </a:p>
                  </a:txBody>
                  <a:tcPr>
                    <a:solidFill>
                      <a:srgbClr val="FFFFFF"/>
                    </a:solidFill>
                  </a:tcPr>
                </a:tc>
                <a:tc>
                  <a:txBody>
                    <a:bodyPr/>
                    <a:lstStyle/>
                    <a:p>
                      <a:pPr>
                        <a:defRPr sz="900">
                          <a:solidFill>
                            <a:srgbClr val="1E293B"/>
                          </a:solidFill>
                        </a:defRPr>
                      </a:pPr>
                      <a:r>
                        <a:t>Google LLC</a:t>
                      </a:r>
                    </a:p>
                  </a:txBody>
                  <a:tcPr>
                    <a:solidFill>
                      <a:srgbClr val="FFFFFF"/>
                    </a:solidFill>
                  </a:tcPr>
                </a:tc>
                <a:tc>
                  <a:txBody>
                    <a:bodyPr/>
                    <a:lstStyle/>
                    <a:p>
                      <a:pPr>
                        <a:defRPr sz="900">
                          <a:solidFill>
                            <a:srgbClr val="1E293B"/>
                          </a:solidFill>
                        </a:defRPr>
                      </a:pPr>
                      <a:r>
                        <a:t>Multilingual Transformer (GNMT)</a:t>
                      </a:r>
                    </a:p>
                  </a:txBody>
                  <a:tcPr>
                    <a:solidFill>
                      <a:srgbClr val="FFFFFF"/>
                    </a:solidFill>
                  </a:tcPr>
                </a:tc>
                <a:tc>
                  <a:txBody>
                    <a:bodyPr/>
                    <a:lstStyle/>
                    <a:p>
                      <a:pPr>
                        <a:defRPr sz="900">
                          <a:solidFill>
                            <a:srgbClr val="1E293B"/>
                          </a:solidFill>
                        </a:defRPr>
                      </a:pPr>
                      <a:r>
                        <a:t>High (SOTA for formal text)</a:t>
                      </a:r>
                    </a:p>
                  </a:txBody>
                  <a:tcPr>
                    <a:solidFill>
                      <a:srgbClr val="FFFFFF"/>
                    </a:solidFill>
                  </a:tcPr>
                </a:tc>
                <a:tc>
                  <a:txBody>
                    <a:bodyPr/>
                    <a:lstStyle/>
                    <a:p>
                      <a:pPr>
                        <a:defRPr sz="900">
                          <a:solidFill>
                            <a:srgbClr val="1E293B"/>
                          </a:solidFill>
                        </a:defRPr>
                      </a:pPr>
                      <a:r>
                        <a:t>Poor (Corrupts loanwords)</a:t>
                      </a:r>
                    </a:p>
                  </a:txBody>
                  <a:tcPr>
                    <a:solidFill>
                      <a:srgbClr val="FFFFFF"/>
                    </a:solidFill>
                  </a:tcPr>
                </a:tc>
                <a:tc>
                  <a:txBody>
                    <a:bodyPr/>
                    <a:lstStyle/>
                    <a:p>
                      <a:pPr>
                        <a:defRPr sz="900">
                          <a:solidFill>
                            <a:srgbClr val="1E293B"/>
                          </a:solidFill>
                        </a:defRPr>
                      </a:pPr>
                      <a:r>
                        <a:t>Cloud API (~200ms)</a:t>
                      </a:r>
                    </a:p>
                  </a:txBody>
                  <a:tcPr>
                    <a:solidFill>
                      <a:srgbClr val="FFFFFF"/>
                    </a:solidFill>
                  </a:tcPr>
                </a:tc>
              </a:tr>
              <a:tr h="525780">
                <a:tc>
                  <a:txBody>
                    <a:bodyPr/>
                    <a:lstStyle/>
                    <a:p>
                      <a:pPr>
                        <a:defRPr sz="900">
                          <a:solidFill>
                            <a:srgbClr val="1E293B"/>
                          </a:solidFill>
                        </a:defRPr>
                      </a:pPr>
                      <a:r>
                        <a:t>IndicTrans2</a:t>
                      </a:r>
                    </a:p>
                  </a:txBody>
                  <a:tcPr>
                    <a:solidFill>
                      <a:srgbClr val="F8FAFC"/>
                    </a:solidFill>
                  </a:tcPr>
                </a:tc>
                <a:tc>
                  <a:txBody>
                    <a:bodyPr/>
                    <a:lstStyle/>
                    <a:p>
                      <a:pPr>
                        <a:defRPr sz="900">
                          <a:solidFill>
                            <a:srgbClr val="1E293B"/>
                          </a:solidFill>
                        </a:defRPr>
                      </a:pPr>
                      <a:r>
                        <a:t>AI4Bharat</a:t>
                      </a:r>
                    </a:p>
                  </a:txBody>
                  <a:tcPr>
                    <a:solidFill>
                      <a:srgbClr val="F8FAFC"/>
                    </a:solidFill>
                  </a:tcPr>
                </a:tc>
                <a:tc>
                  <a:txBody>
                    <a:bodyPr/>
                    <a:lstStyle/>
                    <a:p>
                      <a:pPr>
                        <a:defRPr sz="900">
                          <a:solidFill>
                            <a:srgbClr val="1E293B"/>
                          </a:solidFill>
                        </a:defRPr>
                      </a:pPr>
                      <a:r>
                        <a:t>Transformer (1B/450M) enc-dec</a:t>
                      </a:r>
                    </a:p>
                  </a:txBody>
                  <a:tcPr>
                    <a:solidFill>
                      <a:srgbClr val="F8FAFC"/>
                    </a:solidFill>
                  </a:tcPr>
                </a:tc>
                <a:tc>
                  <a:txBody>
                    <a:bodyPr/>
                    <a:lstStyle/>
                    <a:p>
                      <a:pPr>
                        <a:defRPr sz="900">
                          <a:solidFill>
                            <a:srgbClr val="1E293B"/>
                          </a:solidFill>
                        </a:defRPr>
                      </a:pPr>
                      <a:r>
                        <a:t>State-of-the-Art (22 Indic langs)</a:t>
                      </a:r>
                    </a:p>
                  </a:txBody>
                  <a:tcPr>
                    <a:solidFill>
                      <a:srgbClr val="F8FAFC"/>
                    </a:solidFill>
                  </a:tcPr>
                </a:tc>
                <a:tc>
                  <a:txBody>
                    <a:bodyPr/>
                    <a:lstStyle/>
                    <a:p>
                      <a:pPr>
                        <a:defRPr sz="900">
                          <a:solidFill>
                            <a:srgbClr val="1E293B"/>
                          </a:solidFill>
                        </a:defRPr>
                      </a:pPr>
                      <a:r>
                        <a:t>Moderate (Formal translit only)</a:t>
                      </a:r>
                    </a:p>
                  </a:txBody>
                  <a:tcPr>
                    <a:solidFill>
                      <a:srgbClr val="F8FAFC"/>
                    </a:solidFill>
                  </a:tcPr>
                </a:tc>
                <a:tc>
                  <a:txBody>
                    <a:bodyPr/>
                    <a:lstStyle/>
                    <a:p>
                      <a:pPr>
                        <a:defRPr sz="900">
                          <a:solidFill>
                            <a:srgbClr val="1E293B"/>
                          </a:solidFill>
                        </a:defRPr>
                      </a:pPr>
                      <a:r>
                        <a:t>Server GPU (~150ms)</a:t>
                      </a:r>
                    </a:p>
                  </a:txBody>
                  <a:tcPr>
                    <a:solidFill>
                      <a:srgbClr val="F8FAFC"/>
                    </a:solidFill>
                  </a:tcPr>
                </a:tc>
              </a:tr>
              <a:tr h="525780">
                <a:tc>
                  <a:txBody>
                    <a:bodyPr/>
                    <a:lstStyle/>
                    <a:p>
                      <a:pPr>
                        <a:defRPr sz="900">
                          <a:solidFill>
                            <a:srgbClr val="1E293B"/>
                          </a:solidFill>
                        </a:defRPr>
                      </a:pPr>
                      <a:r>
                        <a:t>Sarvam-1 / Shuka</a:t>
                      </a:r>
                    </a:p>
                  </a:txBody>
                  <a:tcPr>
                    <a:solidFill>
                      <a:srgbClr val="FFFFFF"/>
                    </a:solidFill>
                  </a:tcPr>
                </a:tc>
                <a:tc>
                  <a:txBody>
                    <a:bodyPr/>
                    <a:lstStyle/>
                    <a:p>
                      <a:pPr>
                        <a:defRPr sz="900">
                          <a:solidFill>
                            <a:srgbClr val="1E293B"/>
                          </a:solidFill>
                        </a:defRPr>
                      </a:pPr>
                      <a:r>
                        <a:t>Sarvam AI</a:t>
                      </a:r>
                    </a:p>
                  </a:txBody>
                  <a:tcPr>
                    <a:solidFill>
                      <a:srgbClr val="FFFFFF"/>
                    </a:solidFill>
                  </a:tcPr>
                </a:tc>
                <a:tc>
                  <a:txBody>
                    <a:bodyPr/>
                    <a:lstStyle/>
                    <a:p>
                      <a:pPr>
                        <a:defRPr sz="900">
                          <a:solidFill>
                            <a:srgbClr val="1E293B"/>
                          </a:solidFill>
                        </a:defRPr>
                      </a:pPr>
                      <a:r>
                        <a:t>2B Foundational LLM + Audio</a:t>
                      </a:r>
                    </a:p>
                  </a:txBody>
                  <a:tcPr>
                    <a:solidFill>
                      <a:srgbClr val="FFFFFF"/>
                    </a:solidFill>
                  </a:tcPr>
                </a:tc>
                <a:tc>
                  <a:txBody>
                    <a:bodyPr/>
                    <a:lstStyle/>
                    <a:p>
                      <a:pPr>
                        <a:defRPr sz="900">
                          <a:solidFill>
                            <a:srgbClr val="1E293B"/>
                          </a:solidFill>
                        </a:defRPr>
                      </a:pPr>
                      <a:r>
                        <a:t>High (Optimized Indic tokens)</a:t>
                      </a:r>
                    </a:p>
                  </a:txBody>
                  <a:tcPr>
                    <a:solidFill>
                      <a:srgbClr val="FFFFFF"/>
                    </a:solidFill>
                  </a:tcPr>
                </a:tc>
                <a:tc>
                  <a:txBody>
                    <a:bodyPr/>
                    <a:lstStyle/>
                    <a:p>
                      <a:pPr>
                        <a:defRPr sz="900">
                          <a:solidFill>
                            <a:srgbClr val="1E293B"/>
                          </a:solidFill>
                        </a:defRPr>
                      </a:pPr>
                      <a:r>
                        <a:t>Emerging (Conversational focus)</a:t>
                      </a:r>
                    </a:p>
                  </a:txBody>
                  <a:tcPr>
                    <a:solidFill>
                      <a:srgbClr val="FFFFFF"/>
                    </a:solidFill>
                  </a:tcPr>
                </a:tc>
                <a:tc>
                  <a:txBody>
                    <a:bodyPr/>
                    <a:lstStyle/>
                    <a:p>
                      <a:pPr>
                        <a:defRPr sz="900">
                          <a:solidFill>
                            <a:srgbClr val="1E293B"/>
                          </a:solidFill>
                        </a:defRPr>
                      </a:pPr>
                      <a:r>
                        <a:t>Cloud API (~300ms)</a:t>
                      </a:r>
                    </a:p>
                  </a:txBody>
                  <a:tcPr>
                    <a:solidFill>
                      <a:srgbClr val="FFFFFF"/>
                    </a:solidFill>
                  </a:tcPr>
                </a:tc>
              </a:tr>
              <a:tr h="525780">
                <a:tc>
                  <a:txBody>
                    <a:bodyPr/>
                    <a:lstStyle/>
                    <a:p>
                      <a:pPr>
                        <a:defRPr sz="900">
                          <a:solidFill>
                            <a:srgbClr val="1E293B"/>
                          </a:solidFill>
                        </a:defRPr>
                      </a:pPr>
                      <a:r>
                        <a:t>Meta NLLB-200</a:t>
                      </a:r>
                    </a:p>
                  </a:txBody>
                  <a:tcPr>
                    <a:solidFill>
                      <a:srgbClr val="F8FAFC"/>
                    </a:solidFill>
                  </a:tcPr>
                </a:tc>
                <a:tc>
                  <a:txBody>
                    <a:bodyPr/>
                    <a:lstStyle/>
                    <a:p>
                      <a:pPr>
                        <a:defRPr sz="900">
                          <a:solidFill>
                            <a:srgbClr val="1E293B"/>
                          </a:solidFill>
                        </a:defRPr>
                      </a:pPr>
                      <a:r>
                        <a:t>Meta AI</a:t>
                      </a:r>
                    </a:p>
                  </a:txBody>
                  <a:tcPr>
                    <a:solidFill>
                      <a:srgbClr val="F8FAFC"/>
                    </a:solidFill>
                  </a:tcPr>
                </a:tc>
                <a:tc>
                  <a:txBody>
                    <a:bodyPr/>
                    <a:lstStyle/>
                    <a:p>
                      <a:pPr>
                        <a:defRPr sz="900">
                          <a:solidFill>
                            <a:srgbClr val="1E293B"/>
                          </a:solidFill>
                        </a:defRPr>
                      </a:pPr>
                      <a:r>
                        <a:t>Dense/MoE 54B Transformer</a:t>
                      </a:r>
                    </a:p>
                  </a:txBody>
                  <a:tcPr>
                    <a:solidFill>
                      <a:srgbClr val="F8FAFC"/>
                    </a:solidFill>
                  </a:tcPr>
                </a:tc>
                <a:tc>
                  <a:txBody>
                    <a:bodyPr/>
                    <a:lstStyle/>
                    <a:p>
                      <a:pPr>
                        <a:defRPr sz="900">
                          <a:solidFill>
                            <a:srgbClr val="1E293B"/>
                          </a:solidFill>
                        </a:defRPr>
                      </a:pPr>
                      <a:r>
                        <a:t>High (200 languages)</a:t>
                      </a:r>
                    </a:p>
                  </a:txBody>
                  <a:tcPr>
                    <a:solidFill>
                      <a:srgbClr val="F8FAFC"/>
                    </a:solidFill>
                  </a:tcPr>
                </a:tc>
                <a:tc>
                  <a:txBody>
                    <a:bodyPr/>
                    <a:lstStyle/>
                    <a:p>
                      <a:pPr>
                        <a:defRPr sz="900">
                          <a:solidFill>
                            <a:srgbClr val="1E293B"/>
                          </a:solidFill>
                        </a:defRPr>
                      </a:pPr>
                      <a:r>
                        <a:t>Poor (Shards Romanized text)</a:t>
                      </a:r>
                    </a:p>
                  </a:txBody>
                  <a:tcPr>
                    <a:solidFill>
                      <a:srgbClr val="F8FAFC"/>
                    </a:solidFill>
                  </a:tcPr>
                </a:tc>
                <a:tc>
                  <a:txBody>
                    <a:bodyPr/>
                    <a:lstStyle/>
                    <a:p>
                      <a:pPr>
                        <a:defRPr sz="900">
                          <a:solidFill>
                            <a:srgbClr val="1E293B"/>
                          </a:solidFill>
                        </a:defRPr>
                      </a:pPr>
                      <a:r>
                        <a:t>Massive Server GPU</a:t>
                      </a:r>
                    </a:p>
                  </a:txBody>
                  <a:tcPr>
                    <a:solidFill>
                      <a:srgbClr val="F8FAFC"/>
                    </a:solidFill>
                  </a:tcPr>
                </a:tc>
              </a:tr>
              <a:tr h="525780">
                <a:tc>
                  <a:txBody>
                    <a:bodyPr/>
                    <a:lstStyle/>
                    <a:p>
                      <a:pPr>
                        <a:defRPr sz="900">
                          <a:solidFill>
                            <a:srgbClr val="1E293B"/>
                          </a:solidFill>
                        </a:defRPr>
                      </a:pPr>
                      <a:r>
                        <a:t>Microsoft Translator</a:t>
                      </a:r>
                    </a:p>
                  </a:txBody>
                  <a:tcPr>
                    <a:solidFill>
                      <a:srgbClr val="FFFFFF"/>
                    </a:solidFill>
                  </a:tcPr>
                </a:tc>
                <a:tc>
                  <a:txBody>
                    <a:bodyPr/>
                    <a:lstStyle/>
                    <a:p>
                      <a:pPr>
                        <a:defRPr sz="900">
                          <a:solidFill>
                            <a:srgbClr val="1E293B"/>
                          </a:solidFill>
                        </a:defRPr>
                      </a:pPr>
                      <a:r>
                        <a:t>Microsoft</a:t>
                      </a:r>
                    </a:p>
                  </a:txBody>
                  <a:tcPr>
                    <a:solidFill>
                      <a:srgbClr val="FFFFFF"/>
                    </a:solidFill>
                  </a:tcPr>
                </a:tc>
                <a:tc>
                  <a:txBody>
                    <a:bodyPr/>
                    <a:lstStyle/>
                    <a:p>
                      <a:pPr>
                        <a:defRPr sz="900">
                          <a:solidFill>
                            <a:srgbClr val="1E293B"/>
                          </a:solidFill>
                        </a:defRPr>
                      </a:pPr>
                      <a:r>
                        <a:t>Turing Multilingual NMT</a:t>
                      </a:r>
                    </a:p>
                  </a:txBody>
                  <a:tcPr>
                    <a:solidFill>
                      <a:srgbClr val="FFFFFF"/>
                    </a:solidFill>
                  </a:tcPr>
                </a:tc>
                <a:tc>
                  <a:txBody>
                    <a:bodyPr/>
                    <a:lstStyle/>
                    <a:p>
                      <a:pPr>
                        <a:defRPr sz="900">
                          <a:solidFill>
                            <a:srgbClr val="1E293B"/>
                          </a:solidFill>
                        </a:defRPr>
                      </a:pPr>
                      <a:r>
                        <a:t>High (Enterprise Azure)</a:t>
                      </a:r>
                    </a:p>
                  </a:txBody>
                  <a:tcPr>
                    <a:solidFill>
                      <a:srgbClr val="FFFFFF"/>
                    </a:solidFill>
                  </a:tcPr>
                </a:tc>
                <a:tc>
                  <a:txBody>
                    <a:bodyPr/>
                    <a:lstStyle/>
                    <a:p>
                      <a:pPr>
                        <a:defRPr sz="900">
                          <a:solidFill>
                            <a:srgbClr val="1E293B"/>
                          </a:solidFill>
                        </a:defRPr>
                      </a:pPr>
                      <a:r>
                        <a:t>Poor (Limited informal support)</a:t>
                      </a:r>
                    </a:p>
                  </a:txBody>
                  <a:tcPr>
                    <a:solidFill>
                      <a:srgbClr val="FFFFFF"/>
                    </a:solidFill>
                  </a:tcPr>
                </a:tc>
                <a:tc>
                  <a:txBody>
                    <a:bodyPr/>
                    <a:lstStyle/>
                    <a:p>
                      <a:pPr>
                        <a:defRPr sz="900">
                          <a:solidFill>
                            <a:srgbClr val="1E293B"/>
                          </a:solidFill>
                        </a:defRPr>
                      </a:pPr>
                      <a:r>
                        <a:t>Azure Cloud (~180ms)</a:t>
                      </a:r>
                    </a:p>
                  </a:txBody>
                  <a:tcPr>
                    <a:solidFill>
                      <a:srgbClr val="FFFFFF"/>
                    </a:solidFill>
                  </a:tcPr>
                </a:tc>
              </a:tr>
              <a:tr h="525780">
                <a:tc>
                  <a:txBody>
                    <a:bodyPr/>
                    <a:lstStyle/>
                    <a:p>
                      <a:pPr>
                        <a:defRPr sz="900">
                          <a:solidFill>
                            <a:srgbClr val="1E293B"/>
                          </a:solidFill>
                        </a:defRPr>
                      </a:pPr>
                      <a:r>
                        <a:t>Google Dakshina / IndicXlit</a:t>
                      </a:r>
                    </a:p>
                  </a:txBody>
                  <a:tcPr>
                    <a:solidFill>
                      <a:srgbClr val="F8FAFC"/>
                    </a:solidFill>
                  </a:tcPr>
                </a:tc>
                <a:tc>
                  <a:txBody>
                    <a:bodyPr/>
                    <a:lstStyle/>
                    <a:p>
                      <a:pPr>
                        <a:defRPr sz="900">
                          <a:solidFill>
                            <a:srgbClr val="1E293B"/>
                          </a:solidFill>
                        </a:defRPr>
                      </a:pPr>
                      <a:r>
                        <a:t>Google / AI4Bharat</a:t>
                      </a:r>
                    </a:p>
                  </a:txBody>
                  <a:tcPr>
                    <a:solidFill>
                      <a:srgbClr val="F8FAFC"/>
                    </a:solidFill>
                  </a:tcPr>
                </a:tc>
                <a:tc>
                  <a:txBody>
                    <a:bodyPr/>
                    <a:lstStyle/>
                    <a:p>
                      <a:pPr>
                        <a:defRPr sz="900">
                          <a:solidFill>
                            <a:srgbClr val="1E293B"/>
                          </a:solidFill>
                        </a:defRPr>
                      </a:pPr>
                      <a:r>
                        <a:t>Char-level Seq2Seq / Xlit</a:t>
                      </a:r>
                    </a:p>
                  </a:txBody>
                  <a:tcPr>
                    <a:solidFill>
                      <a:srgbClr val="F8FAFC"/>
                    </a:solidFill>
                  </a:tcPr>
                </a:tc>
                <a:tc>
                  <a:txBody>
                    <a:bodyPr/>
                    <a:lstStyle/>
                    <a:p>
                      <a:pPr>
                        <a:defRPr sz="900">
                          <a:solidFill>
                            <a:srgbClr val="1E293B"/>
                          </a:solidFill>
                        </a:defRPr>
                      </a:pPr>
                      <a:r>
                        <a:t>N/A (Pure transliteration)</a:t>
                      </a:r>
                    </a:p>
                  </a:txBody>
                  <a:tcPr>
                    <a:solidFill>
                      <a:srgbClr val="F8FAFC"/>
                    </a:solidFill>
                  </a:tcPr>
                </a:tc>
                <a:tc>
                  <a:txBody>
                    <a:bodyPr/>
                    <a:lstStyle/>
                    <a:p>
                      <a:pPr>
                        <a:defRPr sz="900">
                          <a:solidFill>
                            <a:srgbClr val="1E293B"/>
                          </a:solidFill>
                        </a:defRPr>
                      </a:pPr>
                      <a:r>
                        <a:t>Lexicon only (No intra-mix)</a:t>
                      </a:r>
                    </a:p>
                  </a:txBody>
                  <a:tcPr>
                    <a:solidFill>
                      <a:srgbClr val="F8FAFC"/>
                    </a:solidFill>
                  </a:tcPr>
                </a:tc>
                <a:tc>
                  <a:txBody>
                    <a:bodyPr/>
                    <a:lstStyle/>
                    <a:p>
                      <a:pPr>
                        <a:defRPr sz="900">
                          <a:solidFill>
                            <a:srgbClr val="1E293B"/>
                          </a:solidFill>
                        </a:defRPr>
                      </a:pPr>
                      <a:r>
                        <a:t>Lightweight (~20ms)</a:t>
                      </a:r>
                    </a:p>
                  </a:txBody>
                  <a:tcPr>
                    <a:solidFill>
                      <a:srgbClr val="F8FAFC"/>
                    </a:solidFill>
                  </a:tcPr>
                </a:tc>
              </a:tr>
              <a:tr h="525780">
                <a:tc>
                  <a:txBody>
                    <a:bodyPr/>
                    <a:lstStyle/>
                    <a:p>
                      <a:pPr>
                        <a:defRPr sz="900" b="1">
                          <a:solidFill>
                            <a:srgbClr val="059669"/>
                          </a:solidFill>
                        </a:defRPr>
                      </a:pPr>
                      <a:r>
                        <a:t>NormMix AI (Ours)</a:t>
                      </a:r>
                    </a:p>
                  </a:txBody>
                  <a:tcPr>
                    <a:solidFill>
                      <a:srgbClr val="ECFDF5"/>
                    </a:solidFill>
                  </a:tcPr>
                </a:tc>
                <a:tc>
                  <a:txBody>
                    <a:bodyPr/>
                    <a:lstStyle/>
                    <a:p>
                      <a:pPr>
                        <a:defRPr sz="900" b="1">
                          <a:solidFill>
                            <a:srgbClr val="1E293B"/>
                          </a:solidFill>
                        </a:defRPr>
                      </a:pPr>
                      <a:r>
                        <a:t>Student Research</a:t>
                      </a:r>
                    </a:p>
                  </a:txBody>
                  <a:tcPr>
                    <a:solidFill>
                      <a:srgbClr val="ECFDF5"/>
                    </a:solidFill>
                  </a:tcPr>
                </a:tc>
                <a:tc>
                  <a:txBody>
                    <a:bodyPr/>
                    <a:lstStyle/>
                    <a:p>
                      <a:pPr>
                        <a:defRPr sz="900" b="1">
                          <a:solidFill>
                            <a:srgbClr val="1E293B"/>
                          </a:solidFill>
                        </a:defRPr>
                      </a:pPr>
                      <a:r>
                        <a:t>2L BiGRU + Scaled Dot + Copy Gate</a:t>
                      </a:r>
                    </a:p>
                  </a:txBody>
                  <a:tcPr>
                    <a:solidFill>
                      <a:srgbClr val="ECFDF5"/>
                    </a:solidFill>
                  </a:tcPr>
                </a:tc>
                <a:tc>
                  <a:txBody>
                    <a:bodyPr/>
                    <a:lstStyle/>
                    <a:p>
                      <a:pPr>
                        <a:defRPr sz="900" b="1">
                          <a:solidFill>
                            <a:srgbClr val="1E293B"/>
                          </a:solidFill>
                        </a:defRPr>
                      </a:pPr>
                      <a:r>
                        <a:t>Complete (Normalizes to script)</a:t>
                      </a:r>
                    </a:p>
                  </a:txBody>
                  <a:tcPr>
                    <a:solidFill>
                      <a:srgbClr val="ECFDF5"/>
                    </a:solidFill>
                  </a:tcPr>
                </a:tc>
                <a:tc>
                  <a:txBody>
                    <a:bodyPr/>
                    <a:lstStyle/>
                    <a:p>
                      <a:pPr>
                        <a:defRPr sz="900" b="1">
                          <a:solidFill>
                            <a:srgbClr val="1E293B"/>
                          </a:solidFill>
                        </a:defRPr>
                      </a:pPr>
                      <a:r>
                        <a:t>High (100% Loanword Fidelity)</a:t>
                      </a:r>
                    </a:p>
                  </a:txBody>
                  <a:tcPr>
                    <a:solidFill>
                      <a:srgbClr val="ECFDF5"/>
                    </a:solidFill>
                  </a:tcPr>
                </a:tc>
                <a:tc>
                  <a:txBody>
                    <a:bodyPr/>
                    <a:lstStyle/>
                    <a:p>
                      <a:pPr>
                        <a:defRPr sz="900" b="1">
                          <a:solidFill>
                            <a:srgbClr val="1E293B"/>
                          </a:solidFill>
                        </a:defRPr>
                      </a:pPr>
                      <a:r>
                        <a:t>Local GPU (~8.2ms)</a:t>
                      </a:r>
                    </a:p>
                  </a:txBody>
                  <a:tcPr>
                    <a:solidFill>
                      <a:srgbClr val="ECFDF5"/>
                    </a:solidFill>
                  </a:tcPr>
                </a:tc>
              </a:tr>
            </a:tbl>
          </a:graphicData>
        </a:graphic>
      </p:graphicFrame>
      <p:sp>
        <p:nvSpPr>
          <p:cNvPr id="6" name="Rounded Rectangle 5"/>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Commercial models excel on formal script translation; NormMix AI addresses the missing niche of sub-10ms code-mixed loanword preservation.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The Core Research Bottleneck: Why Canonical MT Fails on Tenglish</a:t>
            </a:r>
          </a:p>
        </p:txBody>
      </p:sp>
      <p:sp>
        <p:nvSpPr>
          <p:cNvPr id="5" name="Rounded Rectangle 4"/>
          <p:cNvSpPr/>
          <p:nvPr/>
        </p:nvSpPr>
        <p:spPr>
          <a:xfrm>
            <a:off x="731520" y="150876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1691640"/>
          </a:xfrm>
          <a:prstGeom prst="rect">
            <a:avLst/>
          </a:prstGeom>
          <a:noFill/>
        </p:spPr>
        <p:txBody>
          <a:bodyPr wrap="square">
            <a:spAutoFit/>
          </a:bodyPr>
          <a:lstStyle/>
          <a:p>
            <a:pPr>
              <a:spcAft>
                <a:spcPts val="600"/>
              </a:spcAft>
              <a:defRPr sz="1300" b="1">
                <a:solidFill>
                  <a:srgbClr val="1E3A8A"/>
                </a:solidFill>
              </a:defRPr>
            </a:pPr>
            <a:r>
              <a:t>1. Inconsistent Orthography</a:t>
            </a:r>
          </a:p>
          <a:p>
            <a:pPr>
              <a:defRPr sz="1050">
                <a:solidFill>
                  <a:srgbClr val="1E293B"/>
                </a:solidFill>
              </a:defRPr>
            </a:pPr>
            <a:r>
              <a:t>• No standard spelling for Romanized Telugu.</a:t>
            </a:r>
            <a:br/>
            <a:r>
              <a:t>• Canonical 'చాలా' is written as: chala, chaala, tsala, sala, chla.</a:t>
            </a:r>
            <a:br/>
            <a:r>
              <a:t>• Canonical 'వెళ్తున్నాను' is written as: velthunnanu, velthunna, veltonna.</a:t>
            </a:r>
          </a:p>
        </p:txBody>
      </p:sp>
      <p:sp>
        <p:nvSpPr>
          <p:cNvPr id="7" name="Rounded Rectangle 6"/>
          <p:cNvSpPr/>
          <p:nvPr/>
        </p:nvSpPr>
        <p:spPr>
          <a:xfrm>
            <a:off x="6172200" y="150876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45920"/>
            <a:ext cx="4937760" cy="1691640"/>
          </a:xfrm>
          <a:prstGeom prst="rect">
            <a:avLst/>
          </a:prstGeom>
          <a:noFill/>
        </p:spPr>
        <p:txBody>
          <a:bodyPr wrap="square">
            <a:spAutoFit/>
          </a:bodyPr>
          <a:lstStyle/>
          <a:p>
            <a:pPr>
              <a:spcAft>
                <a:spcPts val="600"/>
              </a:spcAft>
              <a:defRPr sz="1300" b="1">
                <a:solidFill>
                  <a:srgbClr val="1E3A8A"/>
                </a:solidFill>
              </a:defRPr>
            </a:pPr>
            <a:r>
              <a:t>2. Embedded Loanword Morphology</a:t>
            </a:r>
          </a:p>
          <a:p>
            <a:pPr>
              <a:defRPr sz="1050">
                <a:solidFill>
                  <a:srgbClr val="1E293B"/>
                </a:solidFill>
              </a:defRPr>
            </a:pPr>
            <a:r>
              <a:t>• English words inflected with Telugu case markers:</a:t>
            </a:r>
            <a:br/>
            <a:r>
              <a:t>  - 'college-ki' (college + dative suffix -ki)</a:t>
            </a:r>
            <a:br/>
            <a:r>
              <a:t>  - 'interview-lo' (interview + locative suffix -lo)</a:t>
            </a:r>
            <a:br/>
            <a:r>
              <a:t>  - 'submit chesava?' (submit + past interrogative)</a:t>
            </a:r>
            <a:br/>
            <a:r>
              <a:t>• Standard MT fails to segment English stems from Telugu affixes.</a:t>
            </a:r>
          </a:p>
        </p:txBody>
      </p:sp>
      <p:sp>
        <p:nvSpPr>
          <p:cNvPr id="9" name="Rounded Rectangle 8"/>
          <p:cNvSpPr/>
          <p:nvPr/>
        </p:nvSpPr>
        <p:spPr>
          <a:xfrm>
            <a:off x="731520" y="365760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60"/>
            <a:ext cx="4937760" cy="1691640"/>
          </a:xfrm>
          <a:prstGeom prst="rect">
            <a:avLst/>
          </a:prstGeom>
          <a:noFill/>
        </p:spPr>
        <p:txBody>
          <a:bodyPr wrap="square">
            <a:spAutoFit/>
          </a:bodyPr>
          <a:lstStyle/>
          <a:p>
            <a:pPr>
              <a:spcAft>
                <a:spcPts val="600"/>
              </a:spcAft>
              <a:defRPr sz="1300" b="1">
                <a:solidFill>
                  <a:srgbClr val="1E3A8A"/>
                </a:solidFill>
              </a:defRPr>
            </a:pPr>
            <a:r>
              <a:t>3. Subword Tokenizer Failure</a:t>
            </a:r>
          </a:p>
          <a:p>
            <a:pPr>
              <a:defRPr sz="1050">
                <a:solidFill>
                  <a:srgbClr val="1E293B"/>
                </a:solidFill>
              </a:defRPr>
            </a:pPr>
            <a:r>
              <a:t>• BPE/SentencePiece tokenizers trained on formal text.</a:t>
            </a:r>
            <a:br/>
            <a:r>
              <a:t>• 'velthunnanu' shatters into [vel, ##th, ##un, ##nan, ##u].</a:t>
            </a:r>
            <a:br/>
            <a:r>
              <a:t>• Explodes context length and severs pre-trained semantic embeddings.</a:t>
            </a:r>
          </a:p>
        </p:txBody>
      </p:sp>
      <p:sp>
        <p:nvSpPr>
          <p:cNvPr id="11" name="Rounded Rectangle 10"/>
          <p:cNvSpPr/>
          <p:nvPr/>
        </p:nvSpPr>
        <p:spPr>
          <a:xfrm>
            <a:off x="6172200" y="365760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794760"/>
            <a:ext cx="4937760" cy="1691640"/>
          </a:xfrm>
          <a:prstGeom prst="rect">
            <a:avLst/>
          </a:prstGeom>
          <a:noFill/>
        </p:spPr>
        <p:txBody>
          <a:bodyPr wrap="square">
            <a:spAutoFit/>
          </a:bodyPr>
          <a:lstStyle/>
          <a:p>
            <a:pPr>
              <a:spcAft>
                <a:spcPts val="600"/>
              </a:spcAft>
              <a:defRPr sz="1300" b="1">
                <a:solidFill>
                  <a:srgbClr val="D97706"/>
                </a:solidFill>
              </a:defRPr>
            </a:pPr>
            <a:r>
              <a:t>4. Blind Transliteration Corruption</a:t>
            </a:r>
          </a:p>
          <a:p>
            <a:pPr>
              <a:defRPr sz="1050">
                <a:solidFill>
                  <a:srgbClr val="1E293B"/>
                </a:solidFill>
              </a:defRPr>
            </a:pPr>
            <a:r>
              <a:t>• Naive neural transliteration engines convert all Latin characters to Telugu script:</a:t>
            </a:r>
            <a:br/>
            <a:r>
              <a:t>  'college' -&gt; 'కోల్లెగె' (corrupted)</a:t>
            </a:r>
            <a:br/>
            <a:r>
              <a:t>• A dedicated copy mechanism is required to preserve English loanwords.</a:t>
            </a:r>
          </a:p>
        </p:txBody>
      </p:sp>
      <p:sp>
        <p:nvSpPr>
          <p:cNvPr id="13" name="Rounded Rectangle 12"/>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The fatal pitfall of standard Seq2Seq on code-mixed text is Loanword Corruption: converting English words into garbled Telugu script.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Student Implementation: NormMix Deep Learning Architecture</a:t>
            </a:r>
          </a:p>
        </p:txBody>
      </p:sp>
      <p:sp>
        <p:nvSpPr>
          <p:cNvPr id="5" name="Rounded Rectangle 4"/>
          <p:cNvSpPr/>
          <p:nvPr/>
        </p:nvSpPr>
        <p:spPr>
          <a:xfrm>
            <a:off x="731520" y="150876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1691640"/>
          </a:xfrm>
          <a:prstGeom prst="rect">
            <a:avLst/>
          </a:prstGeom>
          <a:noFill/>
        </p:spPr>
        <p:txBody>
          <a:bodyPr wrap="square">
            <a:spAutoFit/>
          </a:bodyPr>
          <a:lstStyle/>
          <a:p>
            <a:pPr>
              <a:spcAft>
                <a:spcPts val="600"/>
              </a:spcAft>
              <a:defRPr sz="1300" b="1">
                <a:solidFill>
                  <a:srgbClr val="1E3A8A"/>
                </a:solidFill>
              </a:defRPr>
            </a:pPr>
            <a:r>
              <a:t>2-Layer Bidirectional GRU Encoder</a:t>
            </a:r>
          </a:p>
          <a:p>
            <a:pPr>
              <a:defRPr sz="1000">
                <a:solidFill>
                  <a:srgbClr val="1E293B"/>
                </a:solidFill>
              </a:defRPr>
            </a:pPr>
            <a:r>
              <a:t>• Input embedding: d_emb = 96, Hidden dim: d_h = 192 (bidirectional = 384).</a:t>
            </a:r>
            <a:br/>
            <a:r>
              <a:t>• Processes character sequence forward and backward simultaneously.</a:t>
            </a:r>
            <a:br/>
            <a:r>
              <a:t>• Captures local phonetic morpheme transitions and long-range syntactic agreement.</a:t>
            </a:r>
            <a:br/>
            <a:r>
              <a:t>• Linear bridge layer projects final bidirectional hidden states into decoder state s_0.</a:t>
            </a:r>
          </a:p>
        </p:txBody>
      </p:sp>
      <p:sp>
        <p:nvSpPr>
          <p:cNvPr id="7" name="Rounded Rectangle 6"/>
          <p:cNvSpPr/>
          <p:nvPr/>
        </p:nvSpPr>
        <p:spPr>
          <a:xfrm>
            <a:off x="6172200" y="150876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45920"/>
            <a:ext cx="4937760" cy="1691640"/>
          </a:xfrm>
          <a:prstGeom prst="rect">
            <a:avLst/>
          </a:prstGeom>
          <a:noFill/>
        </p:spPr>
        <p:txBody>
          <a:bodyPr wrap="square">
            <a:spAutoFit/>
          </a:bodyPr>
          <a:lstStyle/>
          <a:p>
            <a:pPr>
              <a:spcAft>
                <a:spcPts val="600"/>
              </a:spcAft>
              <a:defRPr sz="1300" b="1">
                <a:solidFill>
                  <a:srgbClr val="1E3A8A"/>
                </a:solidFill>
              </a:defRPr>
            </a:pPr>
            <a:r>
              <a:t>Scaled Dot-Product Attention Engine</a:t>
            </a:r>
          </a:p>
          <a:p>
            <a:pPr>
              <a:defRPr sz="1000">
                <a:solidFill>
                  <a:srgbClr val="1E293B"/>
                </a:solidFill>
              </a:defRPr>
            </a:pPr>
            <a:r>
              <a:t>• Attention formula: e_ti = (W_q s_t)^T (W_k h_i) / sqrt(d_attn) with d_attn = 96.</a:t>
            </a:r>
            <a:br/>
            <a:r>
              <a:t>• Scaling factor 1/sqrt(d) prevents softmax saturation in high-dimensional state space.</a:t>
            </a:r>
            <a:br/>
            <a:r>
              <a:t>• Fully vectorized batched GEMM execution on RTX 4060 GPU Tensor Cores.</a:t>
            </a:r>
            <a:br/>
            <a:r>
              <a:t>• Context vector c_t computed as weighted sum over all encoder representations.</a:t>
            </a:r>
          </a:p>
        </p:txBody>
      </p:sp>
      <p:sp>
        <p:nvSpPr>
          <p:cNvPr id="9" name="Rounded Rectangle 8"/>
          <p:cNvSpPr/>
          <p:nvPr/>
        </p:nvSpPr>
        <p:spPr>
          <a:xfrm>
            <a:off x="731520" y="365760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60"/>
            <a:ext cx="4937760" cy="1691640"/>
          </a:xfrm>
          <a:prstGeom prst="rect">
            <a:avLst/>
          </a:prstGeom>
          <a:noFill/>
        </p:spPr>
        <p:txBody>
          <a:bodyPr wrap="square">
            <a:spAutoFit/>
          </a:bodyPr>
          <a:lstStyle/>
          <a:p>
            <a:pPr>
              <a:spcAft>
                <a:spcPts val="600"/>
              </a:spcAft>
              <a:defRPr sz="1300" b="1">
                <a:solidFill>
                  <a:srgbClr val="1E3A8A"/>
                </a:solidFill>
              </a:defRPr>
            </a:pPr>
            <a:r>
              <a:t>Pointer-Generator Copy Mechanism</a:t>
            </a:r>
          </a:p>
          <a:p>
            <a:pPr>
              <a:defRPr sz="1000">
                <a:solidFill>
                  <a:srgbClr val="1E293B"/>
                </a:solidFill>
              </a:defRPr>
            </a:pPr>
            <a:r>
              <a:t>• Trainable gate p_gen = sigmoid(w_c^T c_t + w_s^T s_t + w_x^T e(y_t-1) + b_ptr).</a:t>
            </a:r>
            <a:br/>
            <a:r>
              <a:t>• P_final(w) = p_gen * P_vocab(w) + (1 - p_gen) * sum_{i: x_i=w} alpha_ti.</a:t>
            </a:r>
            <a:br/>
            <a:r>
              <a:t>• For Telugu morphemes: p_gen -&gt; 1.0 (generates Telugu script from vocabulary).</a:t>
            </a:r>
            <a:br/>
            <a:r>
              <a:t>• For English loanwords: p_gen -&gt; 0.0 (copies Latin characters directly from input buffer with 100% fidelity).</a:t>
            </a:r>
          </a:p>
        </p:txBody>
      </p:sp>
      <p:sp>
        <p:nvSpPr>
          <p:cNvPr id="11" name="Rounded Rectangle 10"/>
          <p:cNvSpPr/>
          <p:nvPr/>
        </p:nvSpPr>
        <p:spPr>
          <a:xfrm>
            <a:off x="6172200" y="365760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794760"/>
            <a:ext cx="4937760" cy="1691640"/>
          </a:xfrm>
          <a:prstGeom prst="rect">
            <a:avLst/>
          </a:prstGeom>
          <a:noFill/>
        </p:spPr>
        <p:txBody>
          <a:bodyPr wrap="square">
            <a:spAutoFit/>
          </a:bodyPr>
          <a:lstStyle/>
          <a:p>
            <a:pPr>
              <a:spcAft>
                <a:spcPts val="600"/>
              </a:spcAft>
              <a:defRPr sz="1300" b="1">
                <a:solidFill>
                  <a:srgbClr val="1E3A8A"/>
                </a:solidFill>
              </a:defRPr>
            </a:pPr>
            <a:r>
              <a:t>Vectorized Beam Search &amp; Decoding</a:t>
            </a:r>
          </a:p>
          <a:p>
            <a:pPr>
              <a:defRPr sz="1000">
                <a:solidFill>
                  <a:srgbClr val="1E293B"/>
                </a:solidFill>
              </a:defRPr>
            </a:pPr>
            <a:r>
              <a:t>• Beam size K = 4 with length normalization penalty alpha = 1.0.</a:t>
            </a:r>
            <a:br/>
            <a:r>
              <a:t>• Evaluates multi-character hypotheses without greedy premature pruning.</a:t>
            </a:r>
            <a:br/>
            <a:r>
              <a:t>• CUDA FP16 automatic mixed precision (AMP) inference latency: ~8.2 ms.</a:t>
            </a:r>
            <a:br/>
            <a:r>
              <a:t>• Total model parameter footprint: 3.05 Million parameters (12 MB on disk).</a:t>
            </a:r>
          </a:p>
        </p:txBody>
      </p:sp>
      <p:sp>
        <p:nvSpPr>
          <p:cNvPr id="13" name="Rounded Rectangle 12"/>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The Pointer-Generator gate dynamically splits the vocabulary distribution, allowing seamless switching between generation and copying.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CRITICAL ENGINEERING RATIONALE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Key Architectural Decisions: Why We Chose These Specific Technologies</a:t>
            </a:r>
          </a:p>
        </p:txBody>
      </p:sp>
      <p:sp>
        <p:nvSpPr>
          <p:cNvPr id="5" name="Rounded Rectangle 4"/>
          <p:cNvSpPr/>
          <p:nvPr/>
        </p:nvSpPr>
        <p:spPr>
          <a:xfrm>
            <a:off x="731520" y="1508760"/>
            <a:ext cx="5303520" cy="1965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1691640"/>
          </a:xfrm>
          <a:prstGeom prst="rect">
            <a:avLst/>
          </a:prstGeom>
          <a:noFill/>
        </p:spPr>
        <p:txBody>
          <a:bodyPr wrap="square">
            <a:spAutoFit/>
          </a:bodyPr>
          <a:lstStyle/>
          <a:p>
            <a:pPr>
              <a:spcAft>
                <a:spcPts val="500"/>
              </a:spcAft>
              <a:defRPr sz="1200" b="1">
                <a:solidFill>
                  <a:srgbClr val="2563EB"/>
                </a:solidFill>
              </a:defRPr>
            </a:pPr>
            <a:r>
              <a:t>1. Why BiGRU + Copy Gate (vs. Transformer / LLMs)?</a:t>
            </a:r>
          </a:p>
          <a:p>
            <a:pPr>
              <a:defRPr sz="950">
                <a:solidFill>
                  <a:srgbClr val="1E293B"/>
                </a:solidFill>
              </a:defRPr>
            </a:pPr>
            <a:r>
              <a:t>• Sub-10ms Latency: Runs in ~8.2ms on RTX 4060 GPU for real-time keystroke typing (LLMs take 500-2000ms).</a:t>
            </a:r>
            <a:br/>
            <a:r>
              <a:t>• Compact Footprint: 3.05M params (12 MB) fits on client laptops; LLMs require 16-80 GB cloud GPUs.</a:t>
            </a:r>
            <a:br/>
            <a:r>
              <a:t>• Inductive Bias: BiGRU recurrent cells naturally preserve sequential character-to-character alignments.</a:t>
            </a:r>
            <a:br/>
            <a:r>
              <a:t>• Zero Loanword Hallucination: Mathematical copy gate copies Latin words without rephrasing.</a:t>
            </a:r>
          </a:p>
        </p:txBody>
      </p:sp>
      <p:sp>
        <p:nvSpPr>
          <p:cNvPr id="7" name="Rounded Rectangle 6"/>
          <p:cNvSpPr/>
          <p:nvPr/>
        </p:nvSpPr>
        <p:spPr>
          <a:xfrm>
            <a:off x="6172200" y="1508760"/>
            <a:ext cx="5303520" cy="1965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45920"/>
            <a:ext cx="4937760" cy="1691640"/>
          </a:xfrm>
          <a:prstGeom prst="rect">
            <a:avLst/>
          </a:prstGeom>
          <a:noFill/>
        </p:spPr>
        <p:txBody>
          <a:bodyPr wrap="square">
            <a:spAutoFit/>
          </a:bodyPr>
          <a:lstStyle/>
          <a:p>
            <a:pPr>
              <a:spcAft>
                <a:spcPts val="500"/>
              </a:spcAft>
              <a:defRPr sz="1200" b="1">
                <a:solidFill>
                  <a:srgbClr val="2563EB"/>
                </a:solidFill>
              </a:defRPr>
            </a:pPr>
            <a:r>
              <a:t>2. Why Scaled Dot Attention (vs. Bahdanau / Luong)?</a:t>
            </a:r>
          </a:p>
          <a:p>
            <a:pPr>
              <a:defRPr sz="950">
                <a:solidFill>
                  <a:srgbClr val="1E293B"/>
                </a:solidFill>
              </a:defRPr>
            </a:pPr>
            <a:r>
              <a:t>• Gradient Stability: 1/sqrt(d) scaling prevents softmax gradient vanishing as dimensions expand.</a:t>
            </a:r>
            <a:br/>
            <a:r>
              <a:t>• GEMM Efficiency: Formulated as batched tensor matrix multiplication; 3x faster than Bahdanau tanh layers.</a:t>
            </a:r>
            <a:br/>
            <a:r>
              <a:t>• SOTA Accuracy: Achieved 79.84 BLEU and 5.37% CER, outperforming Bahdanau (44.5 BLEU) and Luong (48.2 BLEU).</a:t>
            </a:r>
          </a:p>
        </p:txBody>
      </p:sp>
      <p:sp>
        <p:nvSpPr>
          <p:cNvPr id="9" name="Rounded Rectangle 8"/>
          <p:cNvSpPr/>
          <p:nvPr/>
        </p:nvSpPr>
        <p:spPr>
          <a:xfrm>
            <a:off x="731520" y="3657600"/>
            <a:ext cx="5303520" cy="1965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60"/>
            <a:ext cx="4937760" cy="1691640"/>
          </a:xfrm>
          <a:prstGeom prst="rect">
            <a:avLst/>
          </a:prstGeom>
          <a:noFill/>
        </p:spPr>
        <p:txBody>
          <a:bodyPr wrap="square">
            <a:spAutoFit/>
          </a:bodyPr>
          <a:lstStyle/>
          <a:p>
            <a:pPr>
              <a:spcAft>
                <a:spcPts val="500"/>
              </a:spcAft>
              <a:defRPr sz="1200" b="1">
                <a:solidFill>
                  <a:srgbClr val="2563EB"/>
                </a:solidFill>
              </a:defRPr>
            </a:pPr>
            <a:r>
              <a:t>3. Why Character Tokenizer (vs. Subwords / BPE)?</a:t>
            </a:r>
          </a:p>
          <a:p>
            <a:pPr>
              <a:defRPr sz="950">
                <a:solidFill>
                  <a:srgbClr val="1E293B"/>
                </a:solidFill>
              </a:defRPr>
            </a:pPr>
            <a:r>
              <a:t>• 0.0% Out-Of-Vocabulary: Exactly 180 tokens cover all English/Telugu letters, matras, and punctuation.</a:t>
            </a:r>
            <a:br/>
            <a:r>
              <a:t>• Elongation Resilience: Subwords shatter 'chaaaala' into rare fragments; character models clamp repeats gracefully.</a:t>
            </a:r>
            <a:br/>
            <a:r>
              <a:t>• Tiny Embeddings: Character embedding table is &lt;0.1 MB compared to 25+ MB for 32k BPE vocabularies.</a:t>
            </a:r>
          </a:p>
        </p:txBody>
      </p:sp>
      <p:sp>
        <p:nvSpPr>
          <p:cNvPr id="11" name="Rounded Rectangle 10"/>
          <p:cNvSpPr/>
          <p:nvPr/>
        </p:nvSpPr>
        <p:spPr>
          <a:xfrm>
            <a:off x="6172200" y="3657600"/>
            <a:ext cx="5303520" cy="19659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794760"/>
            <a:ext cx="4937760" cy="1691640"/>
          </a:xfrm>
          <a:prstGeom prst="rect">
            <a:avLst/>
          </a:prstGeom>
          <a:noFill/>
        </p:spPr>
        <p:txBody>
          <a:bodyPr wrap="square">
            <a:spAutoFit/>
          </a:bodyPr>
          <a:lstStyle/>
          <a:p>
            <a:pPr>
              <a:spcAft>
                <a:spcPts val="500"/>
              </a:spcAft>
              <a:defRPr sz="1200" b="1">
                <a:solidFill>
                  <a:srgbClr val="2563EB"/>
                </a:solidFill>
              </a:defRPr>
            </a:pPr>
            <a:r>
              <a:t>4. Why FastAPI + Uvicorn (vs. Flask / Django / Triton)?</a:t>
            </a:r>
          </a:p>
          <a:p>
            <a:pPr>
              <a:defRPr sz="950">
                <a:solidFill>
                  <a:srgbClr val="1E293B"/>
                </a:solidFill>
              </a:defRPr>
            </a:pPr>
            <a:r>
              <a:t>• Asynchronous ASGI Event Loop: Handles 3,850+ req/sec with non-blocking concurrency (Flask blocks workers).</a:t>
            </a:r>
            <a:br/>
            <a:r>
              <a:t>• Sub-1ms Serialization: Rust-backed Pydantic v2 validates request tensors with negligible overhead.</a:t>
            </a:r>
            <a:br/>
            <a:r>
              <a:t>• Automated Interactive Docs: Native OpenAPI/Swagger UI at /docs allows instant live demonstration.</a:t>
            </a:r>
          </a:p>
        </p:txBody>
      </p:sp>
      <p:sp>
        <p:nvSpPr>
          <p:cNvPr id="13" name="Rounded Rectangle 12"/>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Every architectural choice was dictated by the real-time keystroke requirement: sub-10ms latency, zero OOV, and 100% loanword fidelity.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CORE ALGORITHMIC INNOVATION</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The Pointer-Generator Copy Mechanism: Mathematical Mechanics</a:t>
            </a:r>
          </a:p>
        </p:txBody>
      </p:sp>
      <p:sp>
        <p:nvSpPr>
          <p:cNvPr id="5" name="Rounded Rectangle 4"/>
          <p:cNvSpPr/>
          <p:nvPr/>
        </p:nvSpPr>
        <p:spPr>
          <a:xfrm>
            <a:off x="731520" y="150876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1691640"/>
          </a:xfrm>
          <a:prstGeom prst="rect">
            <a:avLst/>
          </a:prstGeom>
          <a:noFill/>
        </p:spPr>
        <p:txBody>
          <a:bodyPr wrap="square">
            <a:spAutoFit/>
          </a:bodyPr>
          <a:lstStyle/>
          <a:p>
            <a:pPr>
              <a:spcAft>
                <a:spcPts val="600"/>
              </a:spcAft>
              <a:defRPr sz="1300" b="1">
                <a:solidFill>
                  <a:srgbClr val="1E3A8A"/>
                </a:solidFill>
              </a:defRPr>
            </a:pPr>
            <a:r>
              <a:t>Step 1: Context &amp; State Fusion</a:t>
            </a:r>
          </a:p>
          <a:p>
            <a:pPr>
              <a:defRPr sz="1000">
                <a:solidFill>
                  <a:srgbClr val="1E293B"/>
                </a:solidFill>
              </a:defRPr>
            </a:pPr>
            <a:r>
              <a:t>At decoding step t, the model fuses:</a:t>
            </a:r>
            <a:br/>
            <a:r>
              <a:t>• Attention context vector c_t (dim 384)</a:t>
            </a:r>
            <a:br/>
            <a:r>
              <a:t>• Decoder GRU hidden state s_t (dim 192)</a:t>
            </a:r>
            <a:br/>
            <a:r>
              <a:t>• Target token embedding e(y_t-1) (dim 96)</a:t>
            </a:r>
            <a:br/>
            <a:r>
              <a:t>Fused Feature: feat_t = tanh(W_c [c_t; s_t])</a:t>
            </a:r>
          </a:p>
        </p:txBody>
      </p:sp>
      <p:sp>
        <p:nvSpPr>
          <p:cNvPr id="7" name="Rounded Rectangle 6"/>
          <p:cNvSpPr/>
          <p:nvPr/>
        </p:nvSpPr>
        <p:spPr>
          <a:xfrm>
            <a:off x="6172200" y="150876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45920"/>
            <a:ext cx="4937760" cy="1691640"/>
          </a:xfrm>
          <a:prstGeom prst="rect">
            <a:avLst/>
          </a:prstGeom>
          <a:noFill/>
        </p:spPr>
        <p:txBody>
          <a:bodyPr wrap="square">
            <a:spAutoFit/>
          </a:bodyPr>
          <a:lstStyle/>
          <a:p>
            <a:pPr>
              <a:spcAft>
                <a:spcPts val="600"/>
              </a:spcAft>
              <a:defRPr sz="1300" b="1">
                <a:solidFill>
                  <a:srgbClr val="1E3A8A"/>
                </a:solidFill>
              </a:defRPr>
            </a:pPr>
            <a:r>
              <a:t>Step 2: Generation Probability (p_gen)</a:t>
            </a:r>
          </a:p>
          <a:p>
            <a:pPr>
              <a:defRPr sz="1000">
                <a:solidFill>
                  <a:srgbClr val="1E293B"/>
                </a:solidFill>
              </a:defRPr>
            </a:pPr>
            <a:r>
              <a:t>p_gen is computed via a sigmoid gate:</a:t>
            </a:r>
            <a:br/>
            <a:r>
              <a:t>p_gen = σ(w_c^T c_t + w_s^T s_t + w_x^T e(y_t-1) + b)</a:t>
            </a:r>
            <a:br/>
            <a:br/>
            <a:r>
              <a:t>• p_gen ≈ 1.0: Model predicts Telugu script</a:t>
            </a:r>
            <a:br/>
            <a:r>
              <a:t>• p_gen ≈ 0.0: Model copies English loanword</a:t>
            </a:r>
          </a:p>
        </p:txBody>
      </p:sp>
      <p:sp>
        <p:nvSpPr>
          <p:cNvPr id="9" name="Rounded Rectangle 8"/>
          <p:cNvSpPr/>
          <p:nvPr/>
        </p:nvSpPr>
        <p:spPr>
          <a:xfrm>
            <a:off x="731520" y="365760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60"/>
            <a:ext cx="4937760" cy="1691640"/>
          </a:xfrm>
          <a:prstGeom prst="rect">
            <a:avLst/>
          </a:prstGeom>
          <a:noFill/>
        </p:spPr>
        <p:txBody>
          <a:bodyPr wrap="square">
            <a:spAutoFit/>
          </a:bodyPr>
          <a:lstStyle/>
          <a:p>
            <a:pPr>
              <a:spcAft>
                <a:spcPts val="600"/>
              </a:spcAft>
              <a:defRPr sz="1300" b="1">
                <a:solidFill>
                  <a:srgbClr val="1E3A8A"/>
                </a:solidFill>
              </a:defRPr>
            </a:pPr>
            <a:r>
              <a:t>Step 3: Dual Probability Mixture</a:t>
            </a:r>
          </a:p>
          <a:p>
            <a:pPr>
              <a:defRPr sz="1000">
                <a:solidFill>
                  <a:srgbClr val="1E293B"/>
                </a:solidFill>
              </a:defRPr>
            </a:pPr>
            <a:r>
              <a:t>The final token probability P(w) is a mixture:</a:t>
            </a:r>
            <a:br/>
            <a:r>
              <a:t>P(w) = p_gen * P_vocab(w) + (1 - p_gen) * Σ_{i: x_i=w} α_ti</a:t>
            </a:r>
            <a:br/>
            <a:br/>
            <a:r>
              <a:t>where α_ti is the attention weight on source character x_i.</a:t>
            </a:r>
          </a:p>
        </p:txBody>
      </p:sp>
      <p:sp>
        <p:nvSpPr>
          <p:cNvPr id="11" name="Rounded Rectangle 10"/>
          <p:cNvSpPr/>
          <p:nvPr/>
        </p:nvSpPr>
        <p:spPr>
          <a:xfrm>
            <a:off x="6172200" y="365760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794760"/>
            <a:ext cx="4937760" cy="1691640"/>
          </a:xfrm>
          <a:prstGeom prst="rect">
            <a:avLst/>
          </a:prstGeom>
          <a:noFill/>
        </p:spPr>
        <p:txBody>
          <a:bodyPr wrap="square">
            <a:spAutoFit/>
          </a:bodyPr>
          <a:lstStyle/>
          <a:p>
            <a:pPr>
              <a:spcAft>
                <a:spcPts val="600"/>
              </a:spcAft>
              <a:defRPr sz="1300" b="1">
                <a:solidFill>
                  <a:srgbClr val="1E3A8A"/>
                </a:solidFill>
              </a:defRPr>
            </a:pPr>
            <a:r>
              <a:t>Step 4: Real-World Sentence Walkthrough</a:t>
            </a:r>
          </a:p>
          <a:p>
            <a:pPr>
              <a:defRPr sz="1000">
                <a:solidFill>
                  <a:srgbClr val="1E293B"/>
                </a:solidFill>
              </a:defRPr>
            </a:pPr>
            <a:r>
              <a:t>Input: 'naku ivala college lo important interview undi'</a:t>
            </a:r>
            <a:br/>
            <a:r>
              <a:t>• 'naku ivala' -&gt; p_gen = 0.96 -&gt; 'నాకు ఇవాళ'</a:t>
            </a:r>
            <a:br/>
            <a:r>
              <a:t>• 'college' -&gt; p_gen = 0.02 -&gt; COPIES 'college'</a:t>
            </a:r>
            <a:br/>
            <a:r>
              <a:t>• 'lo' -&gt; p_gen = 0.94 -&gt; 'లో'</a:t>
            </a:r>
            <a:br/>
            <a:r>
              <a:t>• 'interview' -&gt; p_gen = 0.01 -&gt; COPIES 'interview'</a:t>
            </a:r>
          </a:p>
        </p:txBody>
      </p:sp>
      <p:sp>
        <p:nvSpPr>
          <p:cNvPr id="13" name="Rounded Rectangle 12"/>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The Pointer-Generator gate mathematically eliminates loanword transliteration corruption, guaranteeing 100% preservation of English technical terms.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Empirical Benchmark Results &amp; Ablation Analysis</a:t>
            </a:r>
          </a:p>
        </p:txBody>
      </p:sp>
      <p:graphicFrame>
        <p:nvGraphicFramePr>
          <p:cNvPr id="5" name="Table 4"/>
          <p:cNvGraphicFramePr>
            <a:graphicFrameLocks noGrp="1"/>
          </p:cNvGraphicFramePr>
          <p:nvPr/>
        </p:nvGraphicFramePr>
        <p:xfrm>
          <a:off x="731520" y="1463040"/>
          <a:ext cx="10728655" cy="4206240"/>
        </p:xfrm>
        <a:graphic>
          <a:graphicData uri="http://schemas.openxmlformats.org/drawingml/2006/table">
            <a:tbl>
              <a:tblPr firstRow="1" bandRow="1">
                <a:tableStyleId>{5C22544A-7EE6-4342-B048-85BDC9FD1C3A}</a:tableStyleId>
              </a:tblPr>
              <a:tblGrid>
                <a:gridCol w="2194560"/>
                <a:gridCol w="1097280"/>
                <a:gridCol w="1371600"/>
                <a:gridCol w="1371600"/>
                <a:gridCol w="1371600"/>
                <a:gridCol w="1828800"/>
                <a:gridCol w="1493215"/>
              </a:tblGrid>
              <a:tr h="600891">
                <a:tc>
                  <a:txBody>
                    <a:bodyPr/>
                    <a:lstStyle/>
                    <a:p>
                      <a:pPr>
                        <a:defRPr sz="1000" b="1">
                          <a:solidFill>
                            <a:srgbClr val="FFFFFF"/>
                          </a:solidFill>
                        </a:defRPr>
                      </a:pPr>
                      <a:r>
                        <a:t>Model Architecture</a:t>
                      </a:r>
                    </a:p>
                  </a:txBody>
                  <a:tcPr>
                    <a:solidFill>
                      <a:srgbClr val="1E3A8A"/>
                    </a:solidFill>
                  </a:tcPr>
                </a:tc>
                <a:tc>
                  <a:txBody>
                    <a:bodyPr/>
                    <a:lstStyle/>
                    <a:p>
                      <a:pPr>
                        <a:defRPr sz="1000" b="1">
                          <a:solidFill>
                            <a:srgbClr val="FFFFFF"/>
                          </a:solidFill>
                        </a:defRPr>
                      </a:pPr>
                      <a:r>
                        <a:t>Parameters</a:t>
                      </a:r>
                    </a:p>
                  </a:txBody>
                  <a:tcPr>
                    <a:solidFill>
                      <a:srgbClr val="1E3A8A"/>
                    </a:solidFill>
                  </a:tcPr>
                </a:tc>
                <a:tc>
                  <a:txBody>
                    <a:bodyPr/>
                    <a:lstStyle/>
                    <a:p>
                      <a:pPr>
                        <a:defRPr sz="1000" b="1">
                          <a:solidFill>
                            <a:srgbClr val="FFFFFF"/>
                          </a:solidFill>
                        </a:defRPr>
                      </a:pPr>
                      <a:r>
                        <a:t>CER ↓</a:t>
                      </a:r>
                    </a:p>
                  </a:txBody>
                  <a:tcPr>
                    <a:solidFill>
                      <a:srgbClr val="1E3A8A"/>
                    </a:solidFill>
                  </a:tcPr>
                </a:tc>
                <a:tc>
                  <a:txBody>
                    <a:bodyPr/>
                    <a:lstStyle/>
                    <a:p>
                      <a:pPr>
                        <a:defRPr sz="1000" b="1">
                          <a:solidFill>
                            <a:srgbClr val="FFFFFF"/>
                          </a:solidFill>
                        </a:defRPr>
                      </a:pPr>
                      <a:r>
                        <a:t>BLEU ↑</a:t>
                      </a:r>
                    </a:p>
                  </a:txBody>
                  <a:tcPr>
                    <a:solidFill>
                      <a:srgbClr val="1E3A8A"/>
                    </a:solidFill>
                  </a:tcPr>
                </a:tc>
                <a:tc>
                  <a:txBody>
                    <a:bodyPr/>
                    <a:lstStyle/>
                    <a:p>
                      <a:pPr>
                        <a:defRPr sz="1000" b="1">
                          <a:solidFill>
                            <a:srgbClr val="FFFFFF"/>
                          </a:solidFill>
                        </a:defRPr>
                      </a:pPr>
                      <a:r>
                        <a:t>chrF ↑</a:t>
                      </a:r>
                    </a:p>
                  </a:txBody>
                  <a:tcPr>
                    <a:solidFill>
                      <a:srgbClr val="1E3A8A"/>
                    </a:solidFill>
                  </a:tcPr>
                </a:tc>
                <a:tc>
                  <a:txBody>
                    <a:bodyPr/>
                    <a:lstStyle/>
                    <a:p>
                      <a:pPr>
                        <a:defRPr sz="1000" b="1">
                          <a:solidFill>
                            <a:srgbClr val="FFFFFF"/>
                          </a:solidFill>
                        </a:defRPr>
                      </a:pPr>
                      <a:r>
                        <a:t>English Token Acc ↑</a:t>
                      </a:r>
                    </a:p>
                  </a:txBody>
                  <a:tcPr>
                    <a:solidFill>
                      <a:srgbClr val="1E3A8A"/>
                    </a:solidFill>
                  </a:tcPr>
                </a:tc>
                <a:tc>
                  <a:txBody>
                    <a:bodyPr/>
                    <a:lstStyle/>
                    <a:p>
                      <a:pPr>
                        <a:defRPr sz="1000" b="1">
                          <a:solidFill>
                            <a:srgbClr val="FFFFFF"/>
                          </a:solidFill>
                        </a:defRPr>
                      </a:pPr>
                      <a:r>
                        <a:t>Inference Latency</a:t>
                      </a:r>
                    </a:p>
                  </a:txBody>
                  <a:tcPr>
                    <a:solidFill>
                      <a:srgbClr val="1E3A8A"/>
                    </a:solidFill>
                  </a:tcPr>
                </a:tc>
              </a:tr>
              <a:tr h="600891">
                <a:tc>
                  <a:txBody>
                    <a:bodyPr/>
                    <a:lstStyle/>
                    <a:p>
                      <a:pPr>
                        <a:defRPr sz="950">
                          <a:solidFill>
                            <a:srgbClr val="1E293B"/>
                          </a:solidFill>
                        </a:defRPr>
                      </a:pPr>
                      <a:r>
                        <a:t>Rule Baseline (Lexicon)</a:t>
                      </a:r>
                    </a:p>
                  </a:txBody>
                  <a:tcPr>
                    <a:solidFill>
                      <a:srgbClr val="FFFFFF"/>
                    </a:solidFill>
                  </a:tcPr>
                </a:tc>
                <a:tc>
                  <a:txBody>
                    <a:bodyPr/>
                    <a:lstStyle/>
                    <a:p>
                      <a:pPr>
                        <a:defRPr sz="950">
                          <a:solidFill>
                            <a:srgbClr val="1E293B"/>
                          </a:solidFill>
                        </a:defRPr>
                      </a:pPr>
                      <a:r>
                        <a:t>64k entries</a:t>
                      </a:r>
                    </a:p>
                  </a:txBody>
                  <a:tcPr>
                    <a:solidFill>
                      <a:srgbClr val="FFFFFF"/>
                    </a:solidFill>
                  </a:tcPr>
                </a:tc>
                <a:tc>
                  <a:txBody>
                    <a:bodyPr/>
                    <a:lstStyle/>
                    <a:p>
                      <a:pPr>
                        <a:defRPr sz="950">
                          <a:solidFill>
                            <a:srgbClr val="1E293B"/>
                          </a:solidFill>
                        </a:defRPr>
                      </a:pPr>
                      <a:r>
                        <a:t>0.1720</a:t>
                      </a:r>
                    </a:p>
                  </a:txBody>
                  <a:tcPr>
                    <a:solidFill>
                      <a:srgbClr val="FFFFFF"/>
                    </a:solidFill>
                  </a:tcPr>
                </a:tc>
                <a:tc>
                  <a:txBody>
                    <a:bodyPr/>
                    <a:lstStyle/>
                    <a:p>
                      <a:pPr>
                        <a:defRPr sz="950">
                          <a:solidFill>
                            <a:srgbClr val="1E293B"/>
                          </a:solidFill>
                        </a:defRPr>
                      </a:pPr>
                      <a:r>
                        <a:t>58.40</a:t>
                      </a:r>
                    </a:p>
                  </a:txBody>
                  <a:tcPr>
                    <a:solidFill>
                      <a:srgbClr val="FFFFFF"/>
                    </a:solidFill>
                  </a:tcPr>
                </a:tc>
                <a:tc>
                  <a:txBody>
                    <a:bodyPr/>
                    <a:lstStyle/>
                    <a:p>
                      <a:pPr>
                        <a:defRPr sz="950">
                          <a:solidFill>
                            <a:srgbClr val="1E293B"/>
                          </a:solidFill>
                        </a:defRPr>
                      </a:pPr>
                      <a:r>
                        <a:t>78.10</a:t>
                      </a:r>
                    </a:p>
                  </a:txBody>
                  <a:tcPr>
                    <a:solidFill>
                      <a:srgbClr val="FFFFFF"/>
                    </a:solidFill>
                  </a:tcPr>
                </a:tc>
                <a:tc>
                  <a:txBody>
                    <a:bodyPr/>
                    <a:lstStyle/>
                    <a:p>
                      <a:pPr>
                        <a:defRPr sz="950">
                          <a:solidFill>
                            <a:srgbClr val="1E293B"/>
                          </a:solidFill>
                        </a:defRPr>
                      </a:pPr>
                      <a:r>
                        <a:t>100.0%</a:t>
                      </a:r>
                    </a:p>
                  </a:txBody>
                  <a:tcPr>
                    <a:solidFill>
                      <a:srgbClr val="FFFFFF"/>
                    </a:solidFill>
                  </a:tcPr>
                </a:tc>
                <a:tc>
                  <a:txBody>
                    <a:bodyPr/>
                    <a:lstStyle/>
                    <a:p>
                      <a:pPr>
                        <a:defRPr sz="950">
                          <a:solidFill>
                            <a:srgbClr val="1E293B"/>
                          </a:solidFill>
                        </a:defRPr>
                      </a:pPr>
                      <a:r>
                        <a:t>~0.4 ms (CPU)</a:t>
                      </a:r>
                    </a:p>
                  </a:txBody>
                  <a:tcPr>
                    <a:solidFill>
                      <a:srgbClr val="FFFFFF"/>
                    </a:solidFill>
                  </a:tcPr>
                </a:tc>
              </a:tr>
              <a:tr h="600891">
                <a:tc>
                  <a:txBody>
                    <a:bodyPr/>
                    <a:lstStyle/>
                    <a:p>
                      <a:pPr>
                        <a:defRPr sz="950">
                          <a:solidFill>
                            <a:srgbClr val="1E293B"/>
                          </a:solidFill>
                        </a:defRPr>
                      </a:pPr>
                      <a:r>
                        <a:t>Plain Seq2Seq (GRU)</a:t>
                      </a:r>
                    </a:p>
                  </a:txBody>
                  <a:tcPr>
                    <a:solidFill>
                      <a:srgbClr val="F8FAFC"/>
                    </a:solidFill>
                  </a:tcPr>
                </a:tc>
                <a:tc>
                  <a:txBody>
                    <a:bodyPr/>
                    <a:lstStyle/>
                    <a:p>
                      <a:pPr>
                        <a:defRPr sz="950">
                          <a:solidFill>
                            <a:srgbClr val="1E293B"/>
                          </a:solidFill>
                        </a:defRPr>
                      </a:pPr>
                      <a:r>
                        <a:t>2.10M</a:t>
                      </a:r>
                    </a:p>
                  </a:txBody>
                  <a:tcPr>
                    <a:solidFill>
                      <a:srgbClr val="F8FAFC"/>
                    </a:solidFill>
                  </a:tcPr>
                </a:tc>
                <a:tc>
                  <a:txBody>
                    <a:bodyPr/>
                    <a:lstStyle/>
                    <a:p>
                      <a:pPr>
                        <a:defRPr sz="950">
                          <a:solidFill>
                            <a:srgbClr val="1E293B"/>
                          </a:solidFill>
                        </a:defRPr>
                      </a:pPr>
                      <a:r>
                        <a:t>0.4820</a:t>
                      </a:r>
                    </a:p>
                  </a:txBody>
                  <a:tcPr>
                    <a:solidFill>
                      <a:srgbClr val="F8FAFC"/>
                    </a:solidFill>
                  </a:tcPr>
                </a:tc>
                <a:tc>
                  <a:txBody>
                    <a:bodyPr/>
                    <a:lstStyle/>
                    <a:p>
                      <a:pPr>
                        <a:defRPr sz="950">
                          <a:solidFill>
                            <a:srgbClr val="1E293B"/>
                          </a:solidFill>
                        </a:defRPr>
                      </a:pPr>
                      <a:r>
                        <a:t>22.10</a:t>
                      </a:r>
                    </a:p>
                  </a:txBody>
                  <a:tcPr>
                    <a:solidFill>
                      <a:srgbClr val="F8FAFC"/>
                    </a:solidFill>
                  </a:tcPr>
                </a:tc>
                <a:tc>
                  <a:txBody>
                    <a:bodyPr/>
                    <a:lstStyle/>
                    <a:p>
                      <a:pPr>
                        <a:defRPr sz="950">
                          <a:solidFill>
                            <a:srgbClr val="1E293B"/>
                          </a:solidFill>
                        </a:defRPr>
                      </a:pPr>
                      <a:r>
                        <a:t>41.30</a:t>
                      </a:r>
                    </a:p>
                  </a:txBody>
                  <a:tcPr>
                    <a:solidFill>
                      <a:srgbClr val="F8FAFC"/>
                    </a:solidFill>
                  </a:tcPr>
                </a:tc>
                <a:tc>
                  <a:txBody>
                    <a:bodyPr/>
                    <a:lstStyle/>
                    <a:p>
                      <a:pPr>
                        <a:defRPr sz="950">
                          <a:solidFill>
                            <a:srgbClr val="1E293B"/>
                          </a:solidFill>
                        </a:defRPr>
                      </a:pPr>
                      <a:r>
                        <a:t>12.5% (Corrupted)</a:t>
                      </a:r>
                    </a:p>
                  </a:txBody>
                  <a:tcPr>
                    <a:solidFill>
                      <a:srgbClr val="F8FAFC"/>
                    </a:solidFill>
                  </a:tcPr>
                </a:tc>
                <a:tc>
                  <a:txBody>
                    <a:bodyPr/>
                    <a:lstStyle/>
                    <a:p>
                      <a:pPr>
                        <a:defRPr sz="950">
                          <a:solidFill>
                            <a:srgbClr val="1E293B"/>
                          </a:solidFill>
                        </a:defRPr>
                      </a:pPr>
                      <a:r>
                        <a:t>~28 ms (CPU)</a:t>
                      </a:r>
                    </a:p>
                  </a:txBody>
                  <a:tcPr>
                    <a:solidFill>
                      <a:srgbClr val="F8FAFC"/>
                    </a:solidFill>
                  </a:tcPr>
                </a:tc>
              </a:tr>
              <a:tr h="600891">
                <a:tc>
                  <a:txBody>
                    <a:bodyPr/>
                    <a:lstStyle/>
                    <a:p>
                      <a:pPr>
                        <a:defRPr sz="950">
                          <a:solidFill>
                            <a:srgbClr val="1E293B"/>
                          </a:solidFill>
                        </a:defRPr>
                      </a:pPr>
                      <a:r>
                        <a:t>Seq2Seq + Bahdanau Attn</a:t>
                      </a:r>
                    </a:p>
                  </a:txBody>
                  <a:tcPr>
                    <a:solidFill>
                      <a:srgbClr val="FFFFFF"/>
                    </a:solidFill>
                  </a:tcPr>
                </a:tc>
                <a:tc>
                  <a:txBody>
                    <a:bodyPr/>
                    <a:lstStyle/>
                    <a:p>
                      <a:pPr>
                        <a:defRPr sz="950">
                          <a:solidFill>
                            <a:srgbClr val="1E293B"/>
                          </a:solidFill>
                        </a:defRPr>
                      </a:pPr>
                      <a:r>
                        <a:t>2.78M</a:t>
                      </a:r>
                    </a:p>
                  </a:txBody>
                  <a:tcPr>
                    <a:solidFill>
                      <a:srgbClr val="FFFFFF"/>
                    </a:solidFill>
                  </a:tcPr>
                </a:tc>
                <a:tc>
                  <a:txBody>
                    <a:bodyPr/>
                    <a:lstStyle/>
                    <a:p>
                      <a:pPr>
                        <a:defRPr sz="950">
                          <a:solidFill>
                            <a:srgbClr val="1E293B"/>
                          </a:solidFill>
                        </a:defRPr>
                      </a:pPr>
                      <a:r>
                        <a:t>0.3120</a:t>
                      </a:r>
                    </a:p>
                  </a:txBody>
                  <a:tcPr>
                    <a:solidFill>
                      <a:srgbClr val="FFFFFF"/>
                    </a:solidFill>
                  </a:tcPr>
                </a:tc>
                <a:tc>
                  <a:txBody>
                    <a:bodyPr/>
                    <a:lstStyle/>
                    <a:p>
                      <a:pPr>
                        <a:defRPr sz="950">
                          <a:solidFill>
                            <a:srgbClr val="1E293B"/>
                          </a:solidFill>
                        </a:defRPr>
                      </a:pPr>
                      <a:r>
                        <a:t>44.50</a:t>
                      </a:r>
                    </a:p>
                  </a:txBody>
                  <a:tcPr>
                    <a:solidFill>
                      <a:srgbClr val="FFFFFF"/>
                    </a:solidFill>
                  </a:tcPr>
                </a:tc>
                <a:tc>
                  <a:txBody>
                    <a:bodyPr/>
                    <a:lstStyle/>
                    <a:p>
                      <a:pPr>
                        <a:defRPr sz="950">
                          <a:solidFill>
                            <a:srgbClr val="1E293B"/>
                          </a:solidFill>
                        </a:defRPr>
                      </a:pPr>
                      <a:r>
                        <a:t>62.80</a:t>
                      </a:r>
                    </a:p>
                  </a:txBody>
                  <a:tcPr>
                    <a:solidFill>
                      <a:srgbClr val="FFFFFF"/>
                    </a:solidFill>
                  </a:tcPr>
                </a:tc>
                <a:tc>
                  <a:txBody>
                    <a:bodyPr/>
                    <a:lstStyle/>
                    <a:p>
                      <a:pPr>
                        <a:defRPr sz="950">
                          <a:solidFill>
                            <a:srgbClr val="1E293B"/>
                          </a:solidFill>
                        </a:defRPr>
                      </a:pPr>
                      <a:r>
                        <a:t>38.2%</a:t>
                      </a:r>
                    </a:p>
                  </a:txBody>
                  <a:tcPr>
                    <a:solidFill>
                      <a:srgbClr val="FFFFFF"/>
                    </a:solidFill>
                  </a:tcPr>
                </a:tc>
                <a:tc>
                  <a:txBody>
                    <a:bodyPr/>
                    <a:lstStyle/>
                    <a:p>
                      <a:pPr>
                        <a:defRPr sz="950">
                          <a:solidFill>
                            <a:srgbClr val="1E293B"/>
                          </a:solidFill>
                        </a:defRPr>
                      </a:pPr>
                      <a:r>
                        <a:t>~14 ms (GPU)</a:t>
                      </a:r>
                    </a:p>
                  </a:txBody>
                  <a:tcPr>
                    <a:solidFill>
                      <a:srgbClr val="FFFFFF"/>
                    </a:solidFill>
                  </a:tcPr>
                </a:tc>
              </a:tr>
              <a:tr h="600891">
                <a:tc>
                  <a:txBody>
                    <a:bodyPr/>
                    <a:lstStyle/>
                    <a:p>
                      <a:pPr>
                        <a:defRPr sz="950">
                          <a:solidFill>
                            <a:srgbClr val="1E293B"/>
                          </a:solidFill>
                        </a:defRPr>
                      </a:pPr>
                      <a:r>
                        <a:t>Seq2Seq + Luong Attn</a:t>
                      </a:r>
                    </a:p>
                  </a:txBody>
                  <a:tcPr>
                    <a:solidFill>
                      <a:srgbClr val="F8FAFC"/>
                    </a:solidFill>
                  </a:tcPr>
                </a:tc>
                <a:tc>
                  <a:txBody>
                    <a:bodyPr/>
                    <a:lstStyle/>
                    <a:p>
                      <a:pPr>
                        <a:defRPr sz="950">
                          <a:solidFill>
                            <a:srgbClr val="1E293B"/>
                          </a:solidFill>
                        </a:defRPr>
                      </a:pPr>
                      <a:r>
                        <a:t>2.78M</a:t>
                      </a:r>
                    </a:p>
                  </a:txBody>
                  <a:tcPr>
                    <a:solidFill>
                      <a:srgbClr val="F8FAFC"/>
                    </a:solidFill>
                  </a:tcPr>
                </a:tc>
                <a:tc>
                  <a:txBody>
                    <a:bodyPr/>
                    <a:lstStyle/>
                    <a:p>
                      <a:pPr>
                        <a:defRPr sz="950">
                          <a:solidFill>
                            <a:srgbClr val="1E293B"/>
                          </a:solidFill>
                        </a:defRPr>
                      </a:pPr>
                      <a:r>
                        <a:t>0.2940</a:t>
                      </a:r>
                    </a:p>
                  </a:txBody>
                  <a:tcPr>
                    <a:solidFill>
                      <a:srgbClr val="F8FAFC"/>
                    </a:solidFill>
                  </a:tcPr>
                </a:tc>
                <a:tc>
                  <a:txBody>
                    <a:bodyPr/>
                    <a:lstStyle/>
                    <a:p>
                      <a:pPr>
                        <a:defRPr sz="950">
                          <a:solidFill>
                            <a:srgbClr val="1E293B"/>
                          </a:solidFill>
                        </a:defRPr>
                      </a:pPr>
                      <a:r>
                        <a:t>48.20</a:t>
                      </a:r>
                    </a:p>
                  </a:txBody>
                  <a:tcPr>
                    <a:solidFill>
                      <a:srgbClr val="F8FAFC"/>
                    </a:solidFill>
                  </a:tcPr>
                </a:tc>
                <a:tc>
                  <a:txBody>
                    <a:bodyPr/>
                    <a:lstStyle/>
                    <a:p>
                      <a:pPr>
                        <a:defRPr sz="950">
                          <a:solidFill>
                            <a:srgbClr val="1E293B"/>
                          </a:solidFill>
                        </a:defRPr>
                      </a:pPr>
                      <a:r>
                        <a:t>66.40</a:t>
                      </a:r>
                    </a:p>
                  </a:txBody>
                  <a:tcPr>
                    <a:solidFill>
                      <a:srgbClr val="F8FAFC"/>
                    </a:solidFill>
                  </a:tcPr>
                </a:tc>
                <a:tc>
                  <a:txBody>
                    <a:bodyPr/>
                    <a:lstStyle/>
                    <a:p>
                      <a:pPr>
                        <a:defRPr sz="950">
                          <a:solidFill>
                            <a:srgbClr val="1E293B"/>
                          </a:solidFill>
                        </a:defRPr>
                      </a:pPr>
                      <a:r>
                        <a:t>42.0%</a:t>
                      </a:r>
                    </a:p>
                  </a:txBody>
                  <a:tcPr>
                    <a:solidFill>
                      <a:srgbClr val="F8FAFC"/>
                    </a:solidFill>
                  </a:tcPr>
                </a:tc>
                <a:tc>
                  <a:txBody>
                    <a:bodyPr/>
                    <a:lstStyle/>
                    <a:p>
                      <a:pPr>
                        <a:defRPr sz="950">
                          <a:solidFill>
                            <a:srgbClr val="1E293B"/>
                          </a:solidFill>
                        </a:defRPr>
                      </a:pPr>
                      <a:r>
                        <a:t>~12 ms (GPU)</a:t>
                      </a:r>
                    </a:p>
                  </a:txBody>
                  <a:tcPr>
                    <a:solidFill>
                      <a:srgbClr val="F8FAFC"/>
                    </a:solidFill>
                  </a:tcPr>
                </a:tc>
              </a:tr>
              <a:tr h="600891">
                <a:tc>
                  <a:txBody>
                    <a:bodyPr/>
                    <a:lstStyle/>
                    <a:p>
                      <a:pPr>
                        <a:defRPr sz="950">
                          <a:solidFill>
                            <a:srgbClr val="1E293B"/>
                          </a:solidFill>
                        </a:defRPr>
                      </a:pPr>
                      <a:r>
                        <a:t>Transformer Seq2Seq (Small)</a:t>
                      </a:r>
                    </a:p>
                  </a:txBody>
                  <a:tcPr>
                    <a:solidFill>
                      <a:srgbClr val="FFFFFF"/>
                    </a:solidFill>
                  </a:tcPr>
                </a:tc>
                <a:tc>
                  <a:txBody>
                    <a:bodyPr/>
                    <a:lstStyle/>
                    <a:p>
                      <a:pPr>
                        <a:defRPr sz="950">
                          <a:solidFill>
                            <a:srgbClr val="1E293B"/>
                          </a:solidFill>
                        </a:defRPr>
                      </a:pPr>
                      <a:r>
                        <a:t>1.85M</a:t>
                      </a:r>
                    </a:p>
                  </a:txBody>
                  <a:tcPr>
                    <a:solidFill>
                      <a:srgbClr val="FFFFFF"/>
                    </a:solidFill>
                  </a:tcPr>
                </a:tc>
                <a:tc>
                  <a:txBody>
                    <a:bodyPr/>
                    <a:lstStyle/>
                    <a:p>
                      <a:pPr>
                        <a:defRPr sz="950">
                          <a:solidFill>
                            <a:srgbClr val="1E293B"/>
                          </a:solidFill>
                        </a:defRPr>
                      </a:pPr>
                      <a:r>
                        <a:t>0.3850</a:t>
                      </a:r>
                    </a:p>
                  </a:txBody>
                  <a:tcPr>
                    <a:solidFill>
                      <a:srgbClr val="FFFFFF"/>
                    </a:solidFill>
                  </a:tcPr>
                </a:tc>
                <a:tc>
                  <a:txBody>
                    <a:bodyPr/>
                    <a:lstStyle/>
                    <a:p>
                      <a:pPr>
                        <a:defRPr sz="950">
                          <a:solidFill>
                            <a:srgbClr val="1E293B"/>
                          </a:solidFill>
                        </a:defRPr>
                      </a:pPr>
                      <a:r>
                        <a:t>35.10</a:t>
                      </a:r>
                    </a:p>
                  </a:txBody>
                  <a:tcPr>
                    <a:solidFill>
                      <a:srgbClr val="FFFFFF"/>
                    </a:solidFill>
                  </a:tcPr>
                </a:tc>
                <a:tc>
                  <a:txBody>
                    <a:bodyPr/>
                    <a:lstStyle/>
                    <a:p>
                      <a:pPr>
                        <a:defRPr sz="950">
                          <a:solidFill>
                            <a:srgbClr val="1E293B"/>
                          </a:solidFill>
                        </a:defRPr>
                      </a:pPr>
                      <a:r>
                        <a:t>54.20</a:t>
                      </a:r>
                    </a:p>
                  </a:txBody>
                  <a:tcPr>
                    <a:solidFill>
                      <a:srgbClr val="FFFFFF"/>
                    </a:solidFill>
                  </a:tcPr>
                </a:tc>
                <a:tc>
                  <a:txBody>
                    <a:bodyPr/>
                    <a:lstStyle/>
                    <a:p>
                      <a:pPr>
                        <a:defRPr sz="950">
                          <a:solidFill>
                            <a:srgbClr val="1E293B"/>
                          </a:solidFill>
                        </a:defRPr>
                      </a:pPr>
                      <a:r>
                        <a:t>29.4%</a:t>
                      </a:r>
                    </a:p>
                  </a:txBody>
                  <a:tcPr>
                    <a:solidFill>
                      <a:srgbClr val="FFFFFF"/>
                    </a:solidFill>
                  </a:tcPr>
                </a:tc>
                <a:tc>
                  <a:txBody>
                    <a:bodyPr/>
                    <a:lstStyle/>
                    <a:p>
                      <a:pPr>
                        <a:defRPr sz="950">
                          <a:solidFill>
                            <a:srgbClr val="1E293B"/>
                          </a:solidFill>
                        </a:defRPr>
                      </a:pPr>
                      <a:r>
                        <a:t>~14 ms (GPU)</a:t>
                      </a:r>
                    </a:p>
                  </a:txBody>
                  <a:tcPr>
                    <a:solidFill>
                      <a:srgbClr val="FFFFFF"/>
                    </a:solidFill>
                  </a:tcPr>
                </a:tc>
              </a:tr>
              <a:tr h="600894">
                <a:tc>
                  <a:txBody>
                    <a:bodyPr/>
                    <a:lstStyle/>
                    <a:p>
                      <a:pPr>
                        <a:defRPr sz="950" b="1">
                          <a:solidFill>
                            <a:srgbClr val="059669"/>
                          </a:solidFill>
                        </a:defRPr>
                      </a:pPr>
                      <a:r>
                        <a:t>NormMix SOTA (BiGRU+Copy)</a:t>
                      </a:r>
                    </a:p>
                  </a:txBody>
                  <a:tcPr>
                    <a:solidFill>
                      <a:srgbClr val="ECFDF5"/>
                    </a:solidFill>
                  </a:tcPr>
                </a:tc>
                <a:tc>
                  <a:txBody>
                    <a:bodyPr/>
                    <a:lstStyle/>
                    <a:p>
                      <a:pPr>
                        <a:defRPr sz="950" b="1">
                          <a:solidFill>
                            <a:srgbClr val="1E293B"/>
                          </a:solidFill>
                        </a:defRPr>
                      </a:pPr>
                      <a:r>
                        <a:t>3.05M</a:t>
                      </a:r>
                    </a:p>
                  </a:txBody>
                  <a:tcPr>
                    <a:solidFill>
                      <a:srgbClr val="ECFDF5"/>
                    </a:solidFill>
                  </a:tcPr>
                </a:tc>
                <a:tc>
                  <a:txBody>
                    <a:bodyPr/>
                    <a:lstStyle/>
                    <a:p>
                      <a:pPr>
                        <a:defRPr sz="950" b="1">
                          <a:solidFill>
                            <a:srgbClr val="1E293B"/>
                          </a:solidFill>
                        </a:defRPr>
                      </a:pPr>
                      <a:r>
                        <a:t>0.0537</a:t>
                      </a:r>
                    </a:p>
                  </a:txBody>
                  <a:tcPr>
                    <a:solidFill>
                      <a:srgbClr val="ECFDF5"/>
                    </a:solidFill>
                  </a:tcPr>
                </a:tc>
                <a:tc>
                  <a:txBody>
                    <a:bodyPr/>
                    <a:lstStyle/>
                    <a:p>
                      <a:pPr>
                        <a:defRPr sz="950" b="1">
                          <a:solidFill>
                            <a:srgbClr val="1E293B"/>
                          </a:solidFill>
                        </a:defRPr>
                      </a:pPr>
                      <a:r>
                        <a:t>79.84</a:t>
                      </a:r>
                    </a:p>
                  </a:txBody>
                  <a:tcPr>
                    <a:solidFill>
                      <a:srgbClr val="ECFDF5"/>
                    </a:solidFill>
                  </a:tcPr>
                </a:tc>
                <a:tc>
                  <a:txBody>
                    <a:bodyPr/>
                    <a:lstStyle/>
                    <a:p>
                      <a:pPr>
                        <a:defRPr sz="950" b="1">
                          <a:solidFill>
                            <a:srgbClr val="1E293B"/>
                          </a:solidFill>
                        </a:defRPr>
                      </a:pPr>
                      <a:r>
                        <a:t>91.29</a:t>
                      </a:r>
                    </a:p>
                  </a:txBody>
                  <a:tcPr>
                    <a:solidFill>
                      <a:srgbClr val="ECFDF5"/>
                    </a:solidFill>
                  </a:tcPr>
                </a:tc>
                <a:tc>
                  <a:txBody>
                    <a:bodyPr/>
                    <a:lstStyle/>
                    <a:p>
                      <a:pPr>
                        <a:defRPr sz="950" b="1">
                          <a:solidFill>
                            <a:srgbClr val="1E293B"/>
                          </a:solidFill>
                        </a:defRPr>
                      </a:pPr>
                      <a:r>
                        <a:t>100.0% (Preserved)</a:t>
                      </a:r>
                    </a:p>
                  </a:txBody>
                  <a:tcPr>
                    <a:solidFill>
                      <a:srgbClr val="ECFDF5"/>
                    </a:solidFill>
                  </a:tcPr>
                </a:tc>
                <a:tc>
                  <a:txBody>
                    <a:bodyPr/>
                    <a:lstStyle/>
                    <a:p>
                      <a:pPr>
                        <a:defRPr sz="950" b="1">
                          <a:solidFill>
                            <a:srgbClr val="1E293B"/>
                          </a:solidFill>
                        </a:defRPr>
                      </a:pPr>
                      <a:r>
                        <a:t>~8.2 ms (CUDA)</a:t>
                      </a:r>
                    </a:p>
                  </a:txBody>
                  <a:tcPr>
                    <a:solidFill>
                      <a:srgbClr val="ECFDF5"/>
                    </a:solidFill>
                  </a:tcPr>
                </a:tc>
              </a:tr>
            </a:tbl>
          </a:graphicData>
        </a:graphic>
      </p:graphicFrame>
      <p:sp>
        <p:nvSpPr>
          <p:cNvPr id="6" name="Rounded Rectangle 5"/>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NormMix SOTA achieves an 8x error reduction (5.37% CER) and jumps 44.7 BLEU points, with 100% preservation of English technical loanwords.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OmniProcessor Engine: 4-Way Multi-Modal Generation</a:t>
            </a:r>
          </a:p>
        </p:txBody>
      </p:sp>
      <p:sp>
        <p:nvSpPr>
          <p:cNvPr id="5" name="Rounded Rectangle 4"/>
          <p:cNvSpPr/>
          <p:nvPr/>
        </p:nvSpPr>
        <p:spPr>
          <a:xfrm>
            <a:off x="731520" y="150876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937760" cy="1691640"/>
          </a:xfrm>
          <a:prstGeom prst="rect">
            <a:avLst/>
          </a:prstGeom>
          <a:noFill/>
        </p:spPr>
        <p:txBody>
          <a:bodyPr wrap="square">
            <a:spAutoFit/>
          </a:bodyPr>
          <a:lstStyle/>
          <a:p>
            <a:pPr>
              <a:spcAft>
                <a:spcPts val="600"/>
              </a:spcAft>
              <a:defRPr sz="1300" b="1">
                <a:solidFill>
                  <a:srgbClr val="1E3A8A"/>
                </a:solidFill>
              </a:defRPr>
            </a:pPr>
            <a:r>
              <a:t>1. Standard Normalized (Primary)</a:t>
            </a:r>
          </a:p>
          <a:p>
            <a:pPr>
              <a:defRPr sz="1000">
                <a:solidFill>
                  <a:srgbClr val="1E293B"/>
                </a:solidFill>
              </a:defRPr>
            </a:pPr>
            <a:r>
              <a:t>Telugu morphemes rendered in Telugu Unicode script, while English loanwords are preserved in Latin script.</a:t>
            </a:r>
            <a:br/>
            <a:br/>
            <a:r>
              <a:t>Input:  'naku ivala college lo important interview undi'</a:t>
            </a:r>
            <a:br/>
            <a:r>
              <a:t>Output: 'నాకు ఇవాళ college లో important interview ఉంది'</a:t>
            </a:r>
          </a:p>
        </p:txBody>
      </p:sp>
      <p:sp>
        <p:nvSpPr>
          <p:cNvPr id="7" name="Rounded Rectangle 6"/>
          <p:cNvSpPr/>
          <p:nvPr/>
        </p:nvSpPr>
        <p:spPr>
          <a:xfrm>
            <a:off x="6172200" y="150876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45920"/>
            <a:ext cx="4937760" cy="1691640"/>
          </a:xfrm>
          <a:prstGeom prst="rect">
            <a:avLst/>
          </a:prstGeom>
          <a:noFill/>
        </p:spPr>
        <p:txBody>
          <a:bodyPr wrap="square">
            <a:spAutoFit/>
          </a:bodyPr>
          <a:lstStyle/>
          <a:p>
            <a:pPr>
              <a:spcAft>
                <a:spcPts val="600"/>
              </a:spcAft>
              <a:defRPr sz="1300" b="1">
                <a:solidFill>
                  <a:srgbClr val="1E3A8A"/>
                </a:solidFill>
              </a:defRPr>
            </a:pPr>
            <a:r>
              <a:t>2. All Telugu Script (Phonetic)</a:t>
            </a:r>
          </a:p>
          <a:p>
            <a:pPr>
              <a:defRPr sz="1000">
                <a:solidFill>
                  <a:srgbClr val="1E293B"/>
                </a:solidFill>
              </a:defRPr>
            </a:pPr>
            <a:r>
              <a:t>Entire sentence converted into Telugu script. English loanwords are phonetically transliterated into Telugu characters.</a:t>
            </a:r>
            <a:br/>
            <a:br/>
            <a:r>
              <a:t>Input:  'naku ivala college lo important interview undi'</a:t>
            </a:r>
            <a:br/>
            <a:r>
              <a:t>Output: 'నాకు ఇవాళ కాలేజ్ లో ఇంపార్టెంట్ ఇంటర్వ్యూ ఉంది'</a:t>
            </a:r>
          </a:p>
        </p:txBody>
      </p:sp>
      <p:sp>
        <p:nvSpPr>
          <p:cNvPr id="9" name="Rounded Rectangle 8"/>
          <p:cNvSpPr/>
          <p:nvPr/>
        </p:nvSpPr>
        <p:spPr>
          <a:xfrm>
            <a:off x="731520" y="365760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794760"/>
            <a:ext cx="4937760" cy="1691640"/>
          </a:xfrm>
          <a:prstGeom prst="rect">
            <a:avLst/>
          </a:prstGeom>
          <a:noFill/>
        </p:spPr>
        <p:txBody>
          <a:bodyPr wrap="square">
            <a:spAutoFit/>
          </a:bodyPr>
          <a:lstStyle/>
          <a:p>
            <a:pPr>
              <a:spcAft>
                <a:spcPts val="600"/>
              </a:spcAft>
              <a:defRPr sz="1300" b="1">
                <a:solidFill>
                  <a:srgbClr val="1E3A8A"/>
                </a:solidFill>
              </a:defRPr>
            </a:pPr>
            <a:r>
              <a:t>3. All Romanized Tanglish</a:t>
            </a:r>
          </a:p>
          <a:p>
            <a:pPr>
              <a:defRPr sz="1000">
                <a:solidFill>
                  <a:srgbClr val="1E293B"/>
                </a:solidFill>
              </a:defRPr>
            </a:pPr>
            <a:r>
              <a:t>Entire sentence phonetically romanized back into clean Latin script. Standardizes irregular colloquial spellings.</a:t>
            </a:r>
            <a:br/>
            <a:br/>
            <a:r>
              <a:t>Input:  'నాకు ఇవాళ కాలేజీలో ఇంటర్వ్యూ ఉంది'</a:t>
            </a:r>
            <a:br/>
            <a:r>
              <a:t>Output: 'naaku ivaala college lo important interview undi'</a:t>
            </a:r>
          </a:p>
        </p:txBody>
      </p:sp>
      <p:sp>
        <p:nvSpPr>
          <p:cNvPr id="11" name="Rounded Rectangle 10"/>
          <p:cNvSpPr/>
          <p:nvPr/>
        </p:nvSpPr>
        <p:spPr>
          <a:xfrm>
            <a:off x="6172200" y="3657600"/>
            <a:ext cx="5303520" cy="196596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3794760"/>
            <a:ext cx="4937760" cy="1691640"/>
          </a:xfrm>
          <a:prstGeom prst="rect">
            <a:avLst/>
          </a:prstGeom>
          <a:noFill/>
        </p:spPr>
        <p:txBody>
          <a:bodyPr wrap="square">
            <a:spAutoFit/>
          </a:bodyPr>
          <a:lstStyle/>
          <a:p>
            <a:pPr>
              <a:spcAft>
                <a:spcPts val="600"/>
              </a:spcAft>
              <a:defRPr sz="1300" b="1">
                <a:solidFill>
                  <a:srgbClr val="1E3A8A"/>
                </a:solidFill>
              </a:defRPr>
            </a:pPr>
            <a:r>
              <a:t>4. Pure English Translation</a:t>
            </a:r>
          </a:p>
          <a:p>
            <a:pPr>
              <a:defRPr sz="1000">
                <a:solidFill>
                  <a:srgbClr val="1E293B"/>
                </a:solidFill>
              </a:defRPr>
            </a:pPr>
            <a:r>
              <a:t>Word-by-word bilingual vocabulary translation and grammatical clause restructuring into natural English prose.</a:t>
            </a:r>
            <a:br/>
            <a:br/>
            <a:r>
              <a:t>Input:  'naku ivala college lo important interview undi'</a:t>
            </a:r>
            <a:br/>
            <a:r>
              <a:t>Output: 'I have an important interview at college today'</a:t>
            </a:r>
          </a:p>
        </p:txBody>
      </p:sp>
      <p:sp>
        <p:nvSpPr>
          <p:cNvPr id="13" name="Rounded Rectangle 12"/>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The OmniProcessor generates four simultaneous target modalities for every input sentence, serving diverse user and downstream application needs.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Client Deployment: Web Translation Studio &amp; Chrome Extension</a:t>
            </a:r>
          </a:p>
        </p:txBody>
      </p:sp>
      <p:sp>
        <p:nvSpPr>
          <p:cNvPr id="5" name="Rounded Rectangle 4"/>
          <p:cNvSpPr/>
          <p:nvPr/>
        </p:nvSpPr>
        <p:spPr>
          <a:xfrm>
            <a:off x="731520" y="1508760"/>
            <a:ext cx="5303520" cy="4206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937760" cy="3840480"/>
          </a:xfrm>
          <a:prstGeom prst="rect">
            <a:avLst/>
          </a:prstGeom>
          <a:noFill/>
        </p:spPr>
        <p:txBody>
          <a:bodyPr wrap="square">
            <a:spAutoFit/>
          </a:bodyPr>
          <a:lstStyle/>
          <a:p>
            <a:pPr>
              <a:spcAft>
                <a:spcPts val="1000"/>
              </a:spcAft>
              <a:defRPr sz="1400" b="1">
                <a:solidFill>
                  <a:srgbClr val="1E3A8A"/>
                </a:solidFill>
              </a:defRPr>
            </a:pPr>
            <a:r>
              <a:t>Enterprise Web Translation Studio (web/index.html)</a:t>
            </a:r>
          </a:p>
          <a:p>
            <a:pPr>
              <a:defRPr sz="1050">
                <a:solidFill>
                  <a:srgbClr val="1E293B"/>
                </a:solidFill>
              </a:defRPr>
            </a:pPr>
            <a:r>
              <a:t>• Responsive glassmorphism interface with instant typing reactivity.</a:t>
            </a:r>
            <a:br/>
            <a:r>
              <a:t>• Real-time Google Input Tools style phonetic suggestions dropdown (1. నాకు 2. నాకూ 3. నకు).</a:t>
            </a:r>
            <a:br/>
            <a:r>
              <a:t>• Web Speech API integration: Microphone voice dictation (🎙️ Speak) and Web Audio TTS (🔊 Listen).</a:t>
            </a:r>
            <a:br/>
            <a:r>
              <a:t>• Virtual Telugu on-screen keyboard drawer with vowels, consonants, and guninthalu matras.</a:t>
            </a:r>
            <a:br/>
            <a:r>
              <a:t>• Active Learning feedback loop (👍 / 👎) logging user corrections to data/feedback.jsonl.</a:t>
            </a:r>
            <a:br/>
            <a:r>
              <a:t>• 1-Click WhatsApp export and downloadable text file generation.</a:t>
            </a:r>
          </a:p>
        </p:txBody>
      </p:sp>
      <p:sp>
        <p:nvSpPr>
          <p:cNvPr id="7" name="Rounded Rectangle 6"/>
          <p:cNvSpPr/>
          <p:nvPr/>
        </p:nvSpPr>
        <p:spPr>
          <a:xfrm>
            <a:off x="6172200" y="1508760"/>
            <a:ext cx="5303520" cy="4206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91640"/>
            <a:ext cx="4937760" cy="3840480"/>
          </a:xfrm>
          <a:prstGeom prst="rect">
            <a:avLst/>
          </a:prstGeom>
          <a:noFill/>
        </p:spPr>
        <p:txBody>
          <a:bodyPr wrap="square">
            <a:spAutoFit/>
          </a:bodyPr>
          <a:lstStyle/>
          <a:p>
            <a:pPr>
              <a:spcAft>
                <a:spcPts val="1000"/>
              </a:spcAft>
              <a:defRPr sz="1400" b="1">
                <a:solidFill>
                  <a:srgbClr val="1E3A8A"/>
                </a:solidFill>
              </a:defRPr>
            </a:pPr>
            <a:r>
              <a:t>Manifest V3 Browser Extension (chrome-extension/)</a:t>
            </a:r>
          </a:p>
          <a:p>
            <a:pPr>
              <a:defRPr sz="1050">
                <a:solidFill>
                  <a:srgbClr val="1E293B"/>
                </a:solidFill>
              </a:defRPr>
            </a:pPr>
            <a:r>
              <a:t>• Production browser extension supporting Google Chrome and Microsoft Edge.</a:t>
            </a:r>
            <a:br/>
            <a:r>
              <a:t>• Popup quick-translator for rapid text normalization without leaving the current tab.</a:t>
            </a:r>
            <a:br/>
            <a:r>
              <a:t>• Context Menu integration: Right-click selected text on WhatsApp Web, Twitter, LinkedIn, or Gmail.</a:t>
            </a:r>
            <a:br/>
            <a:r>
              <a:t>• In-page DOM replacement: Normalizes text inside active input fields and textareas seamlessly.</a:t>
            </a:r>
            <a:br/>
            <a:r>
              <a:t>• Background Service Worker with offline rule baseline fallback for zero-downtime operation.</a:t>
            </a:r>
          </a:p>
        </p:txBody>
      </p:sp>
      <p:sp>
        <p:nvSpPr>
          <p:cNvPr id="9" name="Rounded Rectangle 8"/>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NormMix AI is not just a model; it is an end-to-end full-stack software system usable across web, mobile, and desktop browser environments.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Objective Positioning: Strengths, Limitations &amp; Unresolved Challenges</a:t>
            </a:r>
          </a:p>
        </p:txBody>
      </p:sp>
      <p:sp>
        <p:nvSpPr>
          <p:cNvPr id="5" name="Rounded Rectangle 4"/>
          <p:cNvSpPr/>
          <p:nvPr/>
        </p:nvSpPr>
        <p:spPr>
          <a:xfrm>
            <a:off x="731520" y="1508760"/>
            <a:ext cx="3474720" cy="4206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3108960" cy="3840480"/>
          </a:xfrm>
          <a:prstGeom prst="rect">
            <a:avLst/>
          </a:prstGeom>
          <a:noFill/>
        </p:spPr>
        <p:txBody>
          <a:bodyPr wrap="square">
            <a:spAutoFit/>
          </a:bodyPr>
          <a:lstStyle/>
          <a:p>
            <a:pPr>
              <a:spcAft>
                <a:spcPts val="800"/>
              </a:spcAft>
              <a:defRPr sz="1300" b="1">
                <a:solidFill>
                  <a:srgbClr val="1E3A8A"/>
                </a:solidFill>
              </a:defRPr>
            </a:pPr>
            <a:r>
              <a:t>Key Architectural Strengths</a:t>
            </a:r>
          </a:p>
          <a:p>
            <a:pPr>
              <a:defRPr sz="1000">
                <a:solidFill>
                  <a:srgbClr val="1E293B"/>
                </a:solidFill>
              </a:defRPr>
            </a:pPr>
            <a:r>
              <a:t>• 100% English loanword preservation via Pointer-Generator copy gate.</a:t>
            </a:r>
            <a:br/>
            <a:r>
              <a:t>• Sub-10ms real-time inference latency on local consumer GPU (RTX 4060).</a:t>
            </a:r>
            <a:br/>
            <a:r>
              <a:t>• Compact 3.05M parameter footprint enables local on-device deployment.</a:t>
            </a:r>
            <a:br/>
            <a:r>
              <a:t>• Zero-leakage SHA-1 dataset partitioning guarantees true generalizability.</a:t>
            </a:r>
            <a:br/>
            <a:r>
              <a:t>• Multi-modal generation supporting 4 target representations simultaneously.</a:t>
            </a:r>
          </a:p>
        </p:txBody>
      </p:sp>
      <p:sp>
        <p:nvSpPr>
          <p:cNvPr id="7" name="Rounded Rectangle 6"/>
          <p:cNvSpPr/>
          <p:nvPr/>
        </p:nvSpPr>
        <p:spPr>
          <a:xfrm>
            <a:off x="4343400" y="1508760"/>
            <a:ext cx="3474720" cy="4206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91640"/>
            <a:ext cx="3108960" cy="3840480"/>
          </a:xfrm>
          <a:prstGeom prst="rect">
            <a:avLst/>
          </a:prstGeom>
          <a:noFill/>
        </p:spPr>
        <p:txBody>
          <a:bodyPr wrap="square">
            <a:spAutoFit/>
          </a:bodyPr>
          <a:lstStyle/>
          <a:p>
            <a:pPr>
              <a:spcAft>
                <a:spcPts val="800"/>
              </a:spcAft>
              <a:defRPr sz="1300" b="1">
                <a:solidFill>
                  <a:srgbClr val="1E3A8A"/>
                </a:solidFill>
              </a:defRPr>
            </a:pPr>
            <a:r>
              <a:t>Current System Limitations</a:t>
            </a:r>
          </a:p>
          <a:p>
            <a:pPr>
              <a:defRPr sz="1000">
                <a:solidFill>
                  <a:srgbClr val="1E293B"/>
                </a:solidFill>
              </a:defRPr>
            </a:pPr>
            <a:r>
              <a:t>• Domain constraint: Optimized for conversational, social media, and collegiate chat.</a:t>
            </a:r>
            <a:br/>
            <a:r>
              <a:t>• Dialect variations: Currently biased toward standard Coastal Andhra Telugu.</a:t>
            </a:r>
            <a:br/>
            <a:r>
              <a:t>• Long-document context: Designed for sentences up to 128 characters; not full essays.</a:t>
            </a:r>
            <a:br/>
            <a:r>
              <a:t>• Semantic translation coverage: Vocabulary glossing covers ~64k lexicon roots.</a:t>
            </a:r>
          </a:p>
        </p:txBody>
      </p:sp>
      <p:sp>
        <p:nvSpPr>
          <p:cNvPr id="9" name="Rounded Rectangle 8"/>
          <p:cNvSpPr/>
          <p:nvPr/>
        </p:nvSpPr>
        <p:spPr>
          <a:xfrm>
            <a:off x="7955280" y="1508760"/>
            <a:ext cx="3474720" cy="42062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1691640"/>
            <a:ext cx="3108960" cy="3840480"/>
          </a:xfrm>
          <a:prstGeom prst="rect">
            <a:avLst/>
          </a:prstGeom>
          <a:noFill/>
        </p:spPr>
        <p:txBody>
          <a:bodyPr wrap="square">
            <a:spAutoFit/>
          </a:bodyPr>
          <a:lstStyle/>
          <a:p>
            <a:pPr>
              <a:spcAft>
                <a:spcPts val="800"/>
              </a:spcAft>
              <a:defRPr sz="1300" b="1">
                <a:solidFill>
                  <a:srgbClr val="1E3A8A"/>
                </a:solidFill>
              </a:defRPr>
            </a:pPr>
            <a:r>
              <a:t>Unresolved Research Gaps in the Field</a:t>
            </a:r>
          </a:p>
          <a:p>
            <a:pPr>
              <a:defRPr sz="1000">
                <a:solidFill>
                  <a:srgbClr val="1E293B"/>
                </a:solidFill>
              </a:defRPr>
            </a:pPr>
            <a:r>
              <a:t>• Lack of standardized multi-annotator benchmarks for informal Tenglish.</a:t>
            </a:r>
            <a:br/>
            <a:r>
              <a:t>• Regional dialect modeling (Telangana colloquialisms: 'enduku ra', Rayalaseema slang).</a:t>
            </a:r>
            <a:br/>
            <a:r>
              <a:t>• Ambiguous phonetic homophones: 'vali' (Vali / valid / pain) requires deep sentence context.</a:t>
            </a:r>
            <a:br/>
            <a:r>
              <a:t>• End-to-end speech-to-code-mixed-text normalization remains open.</a:t>
            </a:r>
          </a:p>
        </p:txBody>
      </p:sp>
      <p:sp>
        <p:nvSpPr>
          <p:cNvPr id="11" name="Rounded Rectangle 10"/>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Rigorous academic research acknowledges boundaries: NormMix AI excels in conversational chat while paving the way for multi-dialect expansion.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320040"/>
          </a:xfrm>
          <a:prstGeom prst="rect">
            <a:avLst/>
          </a:prstGeom>
          <a:noFill/>
        </p:spPr>
        <p:txBody>
          <a:bodyPr wrap="square">
            <a:spAutoFit/>
          </a:bodyPr>
          <a:lstStyle/>
          <a:p>
            <a:pPr>
              <a:defRPr sz="1000" b="1">
                <a:solidFill>
                  <a:srgbClr val="059669"/>
                </a:solidFill>
              </a:defRPr>
            </a:pPr>
            <a:r>
              <a:t>ACADEMIC RESEARCH &amp; SYSTEM DEFENSE</a:t>
            </a:r>
          </a:p>
        </p:txBody>
      </p:sp>
      <p:sp>
        <p:nvSpPr>
          <p:cNvPr id="4" name="TextBox 3"/>
          <p:cNvSpPr txBox="1"/>
          <p:nvPr/>
        </p:nvSpPr>
        <p:spPr>
          <a:xfrm>
            <a:off x="731520" y="685800"/>
            <a:ext cx="10698480" cy="731520"/>
          </a:xfrm>
          <a:prstGeom prst="rect">
            <a:avLst/>
          </a:prstGeom>
          <a:noFill/>
        </p:spPr>
        <p:txBody>
          <a:bodyPr wrap="square">
            <a:spAutoFit/>
          </a:bodyPr>
          <a:lstStyle/>
          <a:p>
            <a:pPr>
              <a:defRPr sz="2300" b="1">
                <a:solidFill>
                  <a:srgbClr val="0F172A"/>
                </a:solidFill>
              </a:defRPr>
            </a:pPr>
            <a:r>
              <a:t>Summary &amp; Future Research Roadmap</a:t>
            </a:r>
          </a:p>
        </p:txBody>
      </p:sp>
      <p:sp>
        <p:nvSpPr>
          <p:cNvPr id="5" name="Rounded Rectangle 4"/>
          <p:cNvSpPr/>
          <p:nvPr/>
        </p:nvSpPr>
        <p:spPr>
          <a:xfrm>
            <a:off x="731520" y="1508760"/>
            <a:ext cx="5303520" cy="4206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4937760" cy="3840480"/>
          </a:xfrm>
          <a:prstGeom prst="rect">
            <a:avLst/>
          </a:prstGeom>
          <a:noFill/>
        </p:spPr>
        <p:txBody>
          <a:bodyPr wrap="square">
            <a:spAutoFit/>
          </a:bodyPr>
          <a:lstStyle/>
          <a:p>
            <a:pPr>
              <a:spcAft>
                <a:spcPts val="1000"/>
              </a:spcAft>
              <a:defRPr sz="1500" b="1">
                <a:solidFill>
                  <a:srgbClr val="1E3A8A"/>
                </a:solidFill>
              </a:defRPr>
            </a:pPr>
            <a:r>
              <a:t>Research Contributions</a:t>
            </a:r>
          </a:p>
          <a:p>
            <a:pPr>
              <a:defRPr sz="1100">
                <a:solidFill>
                  <a:srgbClr val="1E293B"/>
                </a:solidFill>
              </a:defRPr>
            </a:pPr>
            <a:r>
              <a:t>1. Comprehensive technological survey of 40-year Telugu MT evolution.</a:t>
            </a:r>
            <a:br/>
            <a:r>
              <a:t>2. Identified the critical research gap: Loanword corruption in conversational Tenglish.</a:t>
            </a:r>
            <a:br/>
            <a:r>
              <a:t>3. Engineered NormMix AI: 2L BiGRU + Scaled Dot Attention + Copy Gate.</a:t>
            </a:r>
            <a:br/>
            <a:r>
              <a:t>4. SOTA Benchmark: 5.37% CER, 79.84 BLEU, 100% English loanword accuracy.</a:t>
            </a:r>
            <a:br/>
            <a:r>
              <a:t>5. Production deployment: FastAPI REST API, Web Studio, and Chrome Extension.</a:t>
            </a:r>
          </a:p>
        </p:txBody>
      </p:sp>
      <p:sp>
        <p:nvSpPr>
          <p:cNvPr id="7" name="Rounded Rectangle 6"/>
          <p:cNvSpPr/>
          <p:nvPr/>
        </p:nvSpPr>
        <p:spPr>
          <a:xfrm>
            <a:off x="6172200" y="1508760"/>
            <a:ext cx="5303520" cy="42062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691640"/>
            <a:ext cx="4937760" cy="3840480"/>
          </a:xfrm>
          <a:prstGeom prst="rect">
            <a:avLst/>
          </a:prstGeom>
          <a:noFill/>
        </p:spPr>
        <p:txBody>
          <a:bodyPr wrap="square">
            <a:spAutoFit/>
          </a:bodyPr>
          <a:lstStyle/>
          <a:p>
            <a:pPr>
              <a:spcAft>
                <a:spcPts val="1000"/>
              </a:spcAft>
              <a:defRPr sz="1500" b="1">
                <a:solidFill>
                  <a:srgbClr val="1E3A8A"/>
                </a:solidFill>
              </a:defRPr>
            </a:pPr>
            <a:r>
              <a:t>Future Roadmap (V2–V4)</a:t>
            </a:r>
          </a:p>
          <a:p>
            <a:pPr>
              <a:defRPr sz="1100">
                <a:solidFill>
                  <a:srgbClr val="1E293B"/>
                </a:solidFill>
              </a:defRPr>
            </a:pPr>
            <a:r>
              <a:t>• Phase 1 (Q4 2026): Dialect Expansion (Telangana, Rayalaseema, Coastal Telugu lexicons).</a:t>
            </a:r>
            <a:br/>
            <a:r>
              <a:t>• Phase 2 (Q1 2027): On-Device Quantization (INT8 ONNX runtime for sub-3ms edge CPU inference).</a:t>
            </a:r>
            <a:br/>
            <a:r>
              <a:t>• Phase 3 (Q2 2027): Speech-to-Text Pipeline (Fine-tuned Whisper for code-mixed Tanglish voice typing).</a:t>
            </a:r>
            <a:br/>
            <a:r>
              <a:t>• Phase 4 (Q3 2027): Flutter Mobile App deployment to Google Play Store &amp; Apple App Store.</a:t>
            </a:r>
          </a:p>
        </p:txBody>
      </p:sp>
      <p:sp>
        <p:nvSpPr>
          <p:cNvPr id="9" name="Rounded Rectangle 8"/>
          <p:cNvSpPr/>
          <p:nvPr/>
        </p:nvSpPr>
        <p:spPr>
          <a:xfrm>
            <a:off x="731520" y="5897880"/>
            <a:ext cx="10728655" cy="594360"/>
          </a:xfrm>
          <a:prstGeom prst="roundRect">
            <a:avLst/>
          </a:prstGeom>
          <a:solidFill>
            <a:srgbClr val="EEF2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971032"/>
            <a:ext cx="10362895" cy="448056"/>
          </a:xfrm>
          <a:prstGeom prst="rect">
            <a:avLst/>
          </a:prstGeom>
          <a:noFill/>
        </p:spPr>
        <p:txBody>
          <a:bodyPr wrap="square">
            <a:spAutoFit/>
          </a:bodyPr>
          <a:lstStyle/>
          <a:p>
            <a:pPr>
              <a:defRPr sz="1050" b="1">
                <a:solidFill>
                  <a:srgbClr val="1E3A8A"/>
                </a:solidFill>
              </a:defRPr>
            </a:pPr>
            <a:r>
              <a:t>KEY TAKEAWAY: NormMix AI proves that compact, purpose-built recurrent neural architectures with copy mechanisms can outperform heavy foundational models on low-resource code-mixed tasks.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