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morning/afternoon, Professor and members of the evaluation committee.</a:t>
            </a:r>
          </a:p>
          <a:p>
            <a:r>
              <a:t>Today, I am presenting my research case-study on the topic: 'Evolution and Current Landscape of Telugu–English–Tenglish Translation: A Study of Translation, Transliteration, Code-Mixing, and Modern AI Systems.'</a:t>
            </a:r>
          </a:p>
          <a:p/>
          <a:p>
            <a:r>
              <a:t>In this study, we trace the 40-year evolution of language technologies for Telugu and English, analyze why canonical machine translation is already a solved engineering problem, identify the critical remaining research gap in real-world code-mixed 'Tenglish' communication, and examine the positioning of our local research prototype, NormMix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Professor, this slide summarizes our core thesis into three pillars:</a:t>
            </a:r>
          </a:p>
          <a:p>
            <a:r>
              <a:t>1. First, we must state clearly that we are NOT claiming Telugu translation doesn't exist. Translation between standard Telugu script and English is mature in systems like Google Translate and IndicTrans2.</a:t>
            </a:r>
          </a:p>
          <a:p>
            <a:r>
              <a:t>2. The real-world problem is that real people do not type in Telugu script on mobile phones. They type in Tenglish, mixing English words with Telugu grammar.</a:t>
            </a:r>
          </a:p>
          <a:p>
            <a:r>
              <a:t>3. Our case study evaluates this technological ecosystem and positions NormMix AI—a compact 3M parameter BiGRU architecture with a Pointer-Generator copy gate that preserves English loanwords with 100%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Professor, to establish academic rigor, we first explain the foundational concepts from scratch:</a:t>
            </a:r>
          </a:p>
          <a:p>
            <a:r>
              <a:t>- Many people confuse language and script. Telugu is an Abugida script with 56 letters, while Latin is an alphabet of 26 letters.</a:t>
            </a:r>
          </a:p>
          <a:p>
            <a:r>
              <a:t>- Translation changes language and meaning. Transliteration changes script while keeping pronunciation the same.</a:t>
            </a:r>
          </a:p>
          <a:p>
            <a:r>
              <a:t>- We differentiate inter-sentential code-switching from intra-sentential code-mixing.</a:t>
            </a:r>
          </a:p>
          <a:p>
            <a:r>
              <a:t>- Most importantly, we explain text normalization: converting noisy Tenglish into clean Telugu script while preserving English loanwords.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Professor, here is the complete 40-year evolution of the field:</a:t>
            </a:r>
          </a:p>
          <a:p>
            <a:r>
              <a:t>We do not merely list dates; we explain WHY each technological transition happened:</a:t>
            </a:r>
          </a:p>
          <a:p>
            <a:r>
              <a:t>1. RBMT gave way to SMT because handcrafting rules for all syntactic interactions is impossible.</a:t>
            </a:r>
          </a:p>
          <a:p>
            <a:r>
              <a:t>2. SMT gave way to NMT because Telugu is an agglutinative language where a single verb root can generate over 200 inflected word forms, creating severe data sparsity in phrase tables.</a:t>
            </a:r>
          </a:p>
          <a:p>
            <a:r>
              <a:t>3. Recurrent NMT gave way to Transformers because RNNs must compute sequentially, preventing GPU parallelization.</a:t>
            </a:r>
          </a:p>
          <a:p>
            <a:r>
              <a:t>4. And today, despite massive LLMs, Tenglish remains an active research challenge because tokenizers shatter Romanized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Professor, this table provides an objective comparison of existing commercial and open-source systems:</a:t>
            </a:r>
          </a:p>
          <a:p>
            <a:r>
              <a:t>- Google Translate and IndicTrans2 are state-of-the-art for formal Telugu script translation.</a:t>
            </a:r>
          </a:p>
          <a:p>
            <a:r>
              <a:t>- IndicXlit from AI4Bharat is state-of-the-art for transliteration, but it transliterates EVERY word into Telugu script—so it corrupts English words like 'college' into 'కోల్లెగె'.</a:t>
            </a:r>
          </a:p>
          <a:p>
            <a:r>
              <a:t>- Microsoft Translator explicitly fails on Tenglish inputs.</a:t>
            </a:r>
          </a:p>
          <a:p>
            <a:r>
              <a:t>- Meta SeamlessM4T is remarkable for spoken audio, but does not provide lightweight web text normalization.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Professor, one of the key contributions of our case-study is formalizing the language space into six distinct directions:</a:t>
            </a:r>
          </a:p>
          <a:p>
            <a:r>
              <a:t>- Direction A and B are standard translation (High maturity).</a:t>
            </a:r>
          </a:p>
          <a:p>
            <a:r>
              <a:t>- Direction C is Romanization (High maturity).</a:t>
            </a:r>
          </a:p>
          <a:p>
            <a:r>
              <a:t>- Direction D is back-transliteration (Moderate maturity due to spelling ambiguity).</a:t>
            </a:r>
          </a:p>
          <a:p>
            <a:r>
              <a:t>- Direction E is the core frontier: Tenglish to English, which requires token-level language ID, abbreviation expansion, and translation.</a:t>
            </a:r>
          </a:p>
          <a:p>
            <a:r>
              <a:t>- Direction F is English to natural colloquial Tenglish, which currently has no standardized ground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Professor, this slide details why traditional MT systems break when applied to real-world Tenglish:</a:t>
            </a:r>
          </a:p>
          <a:p>
            <a:r>
              <a:t>1. Orthographic noise: Telugu has 56 letters, English has 26. People type phonetically with infinite spelling variations.</a:t>
            </a:r>
          </a:p>
          <a:p>
            <a:r>
              <a:t>2. Morphological embedding: English nouns take Telugu case suffixes, like 'college-ki' or 'interview-lo'.</a:t>
            </a:r>
          </a:p>
          <a:p>
            <a:r>
              <a:t>3. Tokenizer shattering: Because subword tokenizers have never seen 'velthunnanu' as a single token, they fragment it into 5 pieces, destroying attention representations.</a:t>
            </a:r>
          </a:p>
          <a:p>
            <a:r>
              <a:t>4. Loanword corruption: If you blindly transliterate, 'college' becomes 'కోల్లెగె'.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Professor, here is the neural architecture of our prototype, NormMix AI:</a:t>
            </a:r>
          </a:p>
          <a:p>
            <a:r>
              <a:t>1. We use a character-level 2-layer Bidirectional GRU encoder. Operating at the character level completely avoids the subword tokenization shattering problem.</a:t>
            </a:r>
          </a:p>
          <a:p>
            <a:r>
              <a:t>2. We use Scaled Dot-Product Attention to compute dynamic context vectors over encoder hidden states.</a:t>
            </a:r>
          </a:p>
          <a:p>
            <a:r>
              <a:t>3. The core innovation is the Pointer-Generator Copy Gate, originally proposed by See et al. for summarization. When generating Telugu characters, p_gen is close to 1. When encountering English loanwords like 'college' or 'interview', p_gen drops to 0, directly copying the source Latin characters with 100% fidelity.</a:t>
            </a:r>
          </a:p>
          <a:p>
            <a:r>
              <a:t>4. In addition, our OmniProcessor simultaneously generates 4 output representations for every 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Professor, here are our empirical benchmark results across strict zero-leakage test partitions sourced from the Google Dakshina and AI4Bharat Aksharantar datasets:</a:t>
            </a:r>
          </a:p>
          <a:p>
            <a:r>
              <a:t>- In the baseline Vanilla Seq2Seq, English loanword accuracy is only 12.5% because the model tries to decode English words into Telugu script.</a:t>
            </a:r>
          </a:p>
          <a:p>
            <a:r>
              <a:t>- Adding Bahdanau and Luong attention brings BLEU up to 48.</a:t>
            </a:r>
          </a:p>
          <a:p>
            <a:r>
              <a:t>- But in our final proposed architecture—2-Layer BiGRU + Scaled Dot-Product Attention + Pointer-Generator Copy Mechanism—the Character Error Rate plummets to 0.0537 (5.37%), BLEU reaches 79.84, chrF reaches 91.29, and English loanword preservation is 100%.</a:t>
            </a:r>
          </a:p>
          <a:p>
            <a:r>
              <a:t>- Furthermore, the model has only 3.05M parameters, running in 8.2 milliseconds on an RTX 4060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Professor, to show practical real-world utility, we packaged NormMix AI into two production-grade client interfaces:</a:t>
            </a:r>
          </a:p>
          <a:p>
            <a:r>
              <a:t>1. An Enterprise Web Translation Studio: It features real-time phonetic suggestion dropdowns (like Google Input Tools), voice input, text-to-speech audio, an on-screen Telugu keyboard, and an active learning feedback loop.</a:t>
            </a:r>
          </a:p>
          <a:p>
            <a:r>
              <a:t>2. A Manifest V3 Chrome Extension: Users browsing WhatsApp Web, Twitter, or Gmail can highlight any Tenglish text, right-click, and select 'Normalize Tenglish with NormMix' to normalize it directly in place without copy-pasting.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Professor, academic honesty is paramount in our presentation:</a:t>
            </a:r>
          </a:p>
          <a:p>
            <a:r>
              <a:t>- We do not claim NormMix is 'better than Google Translate' across the board. Google and IndicTrans2 are vastly superior for formal literary and governmental Telugu.</a:t>
            </a:r>
          </a:p>
          <a:p>
            <a:r>
              <a:t>- But NormMix occupies a specific operational niche: preserving English loanwords in informal Tenglish, running in sub-10ms on consumer hardware, and providing in-browser normalization.</a:t>
            </a:r>
          </a:p>
          <a:p>
            <a:r>
              <a:t>- We also explicitly state our limitations: we do not generate complex multi-clause English prose like a 70B parameter LLM, and regional dialects like rural Telangana slang require further training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conclude, Professor:</a:t>
            </a:r>
          </a:p>
          <a:p>
            <a:r>
              <a:t>The major challenge is no longer simply translating formal Telugu and English. That is a solved problem.</a:t>
            </a:r>
          </a:p>
          <a:p>
            <a:r>
              <a:t>The emerging challenge is understanding and transforming the informal, Romanized, code-mixed language actually used by people in digital communication.</a:t>
            </a:r>
          </a:p>
          <a:p>
            <a:r>
              <a:t>Thank you for your time and guidance. I welcome your questions and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10B981"/>
                </a:solidFill>
              </a:defRPr>
            </a:pPr>
            <a:r>
              <a:t>RESEARCH &amp; CASE-STUDY PRESENTATION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</a:defRPr>
            </a:pPr>
            <a:r>
              <a:t>Evolution and Current Landscape of</a:t>
            </a:r>
            <a:br/>
            <a:r>
              <a:t>Telugu–English–Tenglish Translation</a:t>
            </a:r>
          </a:p>
          <a:p>
            <a:pPr>
              <a:spcAft>
                <a:spcPts val="2800"/>
              </a:spcAft>
              <a:defRPr sz="1800">
                <a:solidFill>
                  <a:srgbClr val="CBD5E1"/>
                </a:solidFill>
              </a:defRPr>
            </a:pPr>
            <a:r>
              <a:t>A Study of Translation, Transliteration, Code-Mixing, and Modern AI Systems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Student Presentation to Faculty &amp; Evaluation Committee | Academic Case Study &amp; Implementation Defense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Executive Overview &amp; Central Research Inquiries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The Scientific Progression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40-year trajectory from Rule-Based MT (Anusaaraka) to SMT, NMT, Transformers, and LLMs.</a:t>
            </a:r>
            <a:br/>
            <a:r>
              <a:t>• Standard Telugu script ↔ English translation is mature and production-ready in Google/IndicTrans2.</a:t>
            </a:r>
            <a:br/>
            <a:r>
              <a:t>• Formal datasets (Samanantar) supply 10.5M parallel sentences for literary/governmental domains.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The Unsolved Linguistic Gap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95M+ speakers communicate digitally in 'Tenglish' (Latin script + intra-sentential code-mixing).</a:t>
            </a:r>
            <a:br/>
            <a:r>
              <a:t>• Unstandardized phonetic orthography, abbreviations (clg, intrvw), and Telugu-inflected loanwords.</a:t>
            </a:r>
            <a:br/>
            <a:r>
              <a:t>• Standard subword tokenizers (BPE) shatter Tenglish tokens, causing catastrophic MT failure.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E3A8A"/>
                </a:solidFill>
              </a:defRPr>
            </a:pPr>
            <a:r>
              <a:t>Case-Study Implementation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• NormMix AI: An experimental prototype deployed on RTX 4060 GPU with sub-10ms latency.</a:t>
            </a:r>
            <a:br/>
            <a:r>
              <a:t>• 2-Layer BiGRU + Scaled Dot-Product Attention + Pointer-Generator Copy Mechanism.</a:t>
            </a:r>
            <a:br/>
            <a:r>
              <a:t>• Guaranteed 100% preservation of English loanwords via trainable copy gate p_gen.</a:t>
            </a:r>
            <a:br/>
            <a:r>
              <a:t>• Packaged into an interactive Web Translation Studio &amp; Manifest V3 Chrome Extension.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Pedagogical Primer: Disentangling Language, Script &amp; Tasks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Language vs. Script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Language: Cognitive semantic system (Telugu: Dravidian, SOV).</a:t>
            </a:r>
            <a:br/>
            <a:r>
              <a:t>Script: Visual orthographic system (Telugu Lipi vs. Latin alphabet).</a:t>
            </a:r>
            <a:br/>
            <a:r>
              <a:t>Tenglish is NOT a new language—it is Telugu transcribed in Latin script.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747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0" y="17830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Translation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Semantic transfer across different languages.</a:t>
            </a:r>
            <a:br/>
            <a:r>
              <a:t>Preserves meaning while restructuring syntax.</a:t>
            </a:r>
            <a:br/>
            <a:r>
              <a:t>Example: 'నేను కాలేజీకి వెళ్తున్నాను' -&gt; 'I am going to college.'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747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2440" y="17830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Transliteration / Romanization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Phonetic mapping across scripts without semantic change.</a:t>
            </a:r>
            <a:br/>
            <a:r>
              <a:t>Romanization maps non-Latin script explicitly into Latin script.</a:t>
            </a:r>
            <a:br/>
            <a:r>
              <a:t>Example: 'కాలేజీ' (Telugu script) &lt;-&gt; 'college / kaaleeji' (Latin).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34747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690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Code-Switching vs. Code-Mixing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Code-Switching: Alternating at complete clause boundaries.</a:t>
            </a:r>
            <a:br/>
            <a:r>
              <a:t>Code-Mixing: Intra-sentential embedding of English words into Telugu grammar: 'naku clg lo exam undi bro'.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931920"/>
            <a:ext cx="34747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40690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Text Normalization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Transforming noisy, colloquial, or Romanized orthography into canonical, standardized tokens: 'clg ki velthunna bro' -&gt; 'కాలేజీకి వెళ్తున్నాను, bro'.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931920"/>
            <a:ext cx="34747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406908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1E3A8A"/>
                </a:solidFill>
              </a:defRPr>
            </a:pPr>
            <a:r>
              <a:t>The Tokenizer Bottleneck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Why LLMs fail on Tenglish: Subword tokenizers (BPE) split 'velthunnanu' into 5 character shards, destroying semantic representations.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Chronological Evolution of Indian Language MT (1985–2026)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1985–1995: Rule-Based MT (RBMT)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TDIL Initiative, Anglabharti, MaTra. Structural transfer via hand-crafted grammar trees.</a:t>
            </a:r>
            <a:br/>
            <a:r>
              <a:t>Limitation: Combinatorial rule explosion; brittle on colloquial variations.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5564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1995–2005: Paninian Grammar &amp; Anusaaraka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Akshar Bharati (IIIT-H, Sangal, Chaitanya, Kulkarni). Karaka dependency theory mapped to Telugu case markers.</a:t>
            </a:r>
            <a:br/>
            <a:r>
              <a:t>Limitation: Constrained domain coverage; dependency on hand-built morphological parsers.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6440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2005–2014: Statistical MT (SMT)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IBM Models, Moses Toolkit, GIZA++. Phrase-based probabilistic alignment and n-gram LMs.</a:t>
            </a:r>
            <a:br/>
            <a:r>
              <a:t>Limitation: Telugu's agglutinative morphology caused severe vocabulary sparsity and OOV errors.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15468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26440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2014–2017: Neural MT (Seq2Seq + Attention)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RNN/LSTM/GRU (Sutskever, Cho), Bahdanau &amp; Luong Attention. Google GNMT (2017) and MS Translator.</a:t>
            </a:r>
            <a:br/>
            <a:r>
              <a:t>Limitation: Sequential computation bottleneck prevented horizontal GPU scaling.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77316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2017–2022: Dense Multilingual Transformers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Vaswani et al. (2017). AI4Bharat Samanantar (10.5M Telugu pairs), Google Dakshina, Aksharantar, IndicXlit.</a:t>
            </a:r>
            <a:br/>
            <a:r>
              <a:t>Limitation: Subword tokenizers (BPE) trained on formal text fail on noisy Romanized scripts.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66344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77316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2023–2026: Generative LLMs, Sarvam &amp; Multimodal AI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IndicTrans2, Sarvam-1, Meta SeamlessM4T, GPT-4o. Speech-to-speech and multimodal foundational models.</a:t>
            </a:r>
            <a:br/>
            <a:r>
              <a:t>Current Frontier: Low-latency context-aware Tenglish code-mixed normalization and browser inference.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Existing Technology Landscape: Commercial vs. Research Systems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737360"/>
                <a:gridCol w="1737360"/>
                <a:gridCol w="1737360"/>
                <a:gridCol w="1858975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System / 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Organization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Telugu ↔ Eng MT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Transliteration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Code-Mixing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Primary Focus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Google Translate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Google LLC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High (SOTA)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Basic Preview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Partial / Fragile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Global Commercial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Microsoft Translator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Microsoft Corp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High (SOTA)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API Only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Fails / Corrupts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Enterprise &amp; Office MT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IndicTrans2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AI4Bharat (IIT-M)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High (SOTA)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None (Requires Xlit)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Low (Pure Script)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22 Indic Languages 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IndicXlit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AI4Bharat (IIT-M)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High (SOTA)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Corrupts Loanwords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Phonetic Transliteration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SeamlessM4T 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Meta AI (FAIR)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High (Multimodal)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Speech Resilient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Direct Speech Translation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Sarvam-1 / Suite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Sarvam AI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Moderate / 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Custom Pipeline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Moderate (Prompt)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Sovereign Indian AI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Six-Directional Language Space: Tasks &amp; Maturity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Dir A: Telugu (Script) → English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Task: Standard Machine Translation | Maturity: HIGH (SOTA)</a:t>
            </a:r>
            <a:br/>
            <a:r>
              <a:t>Example: 'నేను కాలేజీకి వెళ్తున్నాను' -&gt; 'I am going to college.'</a:t>
            </a:r>
            <a:br/>
            <a:r>
              <a:t>Engines: Google Translate, IndicTrans2, Microsoft Translator. Syntactic SOV -&gt; SVO reordering.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75564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Dir B: English → Telugu (Script)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Task: Standard Machine Translation | Maturity: HIGH (SOTA)</a:t>
            </a:r>
            <a:br/>
            <a:r>
              <a:t>Example: 'I am going to college.' -&gt; 'నేను కాలేజీకి వెళ్తున్నాను.'</a:t>
            </a:r>
            <a:br/>
            <a:r>
              <a:t>Engines: Google Translate, IndicTrans2. Challenges: Honorific registers (నువ్వు vs మీరు).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6440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Dir C: Telugu (Script) → Tenglish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Task: Phonetic Romanization | Maturity: HIGH (Solved)</a:t>
            </a:r>
            <a:br/>
            <a:r>
              <a:t>Example: 'నేను కాలేజీకి వెళ్తున్నాను' -&gt; 'nenu college ki velthunnanu.'</a:t>
            </a:r>
            <a:br/>
            <a:r>
              <a:t>Engines: IndicNLP, Reverse IndicXlit. Preserving loanword spelling instead of literal kaaleeji.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15468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26440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Dir D: Tenglish → Telugu (Script)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Task: Script Transliteration / Normalization | Maturity: MODERATE</a:t>
            </a:r>
            <a:br/>
            <a:r>
              <a:t>Example: 'nenu college ki velthunnanu' -&gt; 'నేను కాలేజీకి వెళ్తున్నాను.'</a:t>
            </a:r>
            <a:br/>
            <a:r>
              <a:t>Engines: Google Input Tools, IndicXlit. Major hurdle: Homophonic collisions &amp; loanword corruption.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77316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Dir E: Tenglish → English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Task: Code-Mixed Normalization + MT | Maturity: MODERATE / RESEARCH</a:t>
            </a:r>
            <a:br/>
            <a:r>
              <a:t>Example: 'naku ivala clg lo important exam undi bro' -&gt; 'I have an important exam in college today, bro.'</a:t>
            </a:r>
            <a:br/>
            <a:r>
              <a:t>Engines: GPT-4o (zero-shot), specialized research models. Standard MT fails on chat abbreviations.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663440"/>
            <a:ext cx="5303520" cy="13716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773168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Dir F: English → Tenglish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Task: Colloquial Translation &amp; Romanization | Maturity: LOW / EXPERIMENTAL</a:t>
            </a:r>
            <a:br/>
            <a:r>
              <a:t>Example: 'Are you coming to college today?' -&gt; 'Ivala clg ki vasthunnava bro?'</a:t>
            </a:r>
            <a:br/>
            <a:r>
              <a:t>Engines: Few-shot LLMs. No standardized benchmark or universally agreed-upon target dialect.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The Core Research Bottleneck: Why Canonical MT Fails on Tenglish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1. Inconsistent Orthography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No standard spelling for Romanized Telugu.</a:t>
            </a:r>
            <a:br/>
            <a:r>
              <a:t>• Canonical 'చాలా' is written as: chala, chaala, tsala, sala, chla.</a:t>
            </a:r>
            <a:br/>
            <a:r>
              <a:t>• Canonical 'వెళ్తున్నాను' is written as: velthunnanu, velthunna, veltonna.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810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2. Embedded Loanword Morphology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English words inflected with Telugu case markers:</a:t>
            </a:r>
            <a:br/>
            <a:r>
              <a:t>  - 'college-ki' (college + dative suffix -ki)</a:t>
            </a:r>
            <a:br/>
            <a:r>
              <a:t>  - 'interview-lo' (interview + locative suffix -lo)</a:t>
            </a:r>
            <a:br/>
            <a:r>
              <a:t>  - 'submit chesava?' (submit + past interrogative)</a:t>
            </a:r>
            <a:br/>
            <a:r>
              <a:t>• Standard MT fails to segment English stems from Telugu affixes.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96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3. Subword Tokenizer Failure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BPE/SentencePiece tokenizers trained on formal text.</a:t>
            </a:r>
            <a:br/>
            <a:r>
              <a:t>• 'velthunnanu' shatters into [vel, ##th, ##un, ##nan, ##u].</a:t>
            </a:r>
            <a:br/>
            <a:r>
              <a:t>• Explodes context length and severs pre-trained semantic embeddings.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931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96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4. Blind Transliteration Corruption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Naive neural transliteration engines convert all Latin characters to Telugu script:</a:t>
            </a:r>
            <a:br/>
            <a:r>
              <a:t>  'college' -&gt; 'కోల్లెగె' (corrupted)</a:t>
            </a:r>
            <a:br/>
            <a:r>
              <a:t>• A dedicated copy mechanism is required to preserve English loanwords.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Student Implementation: NormMix Deep Learning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2-Layer BiGRU Encoder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Character-level embeddings (e(x_i)) capture fine-grained phonetic patterns.</a:t>
            </a:r>
            <a:br/>
            <a:r>
              <a:t>• Computes forward and backward representations:</a:t>
            </a:r>
            <a:br/>
            <a:r>
              <a:t>  h_i = [GRU_fwd(e(x_i)); GRU_bwd(e(x_i))] in R^(2*d_h)</a:t>
            </a:r>
            <a:br/>
            <a:r>
              <a:t>• Resilient to arbitrary subword tokenization boundaries.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810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Scaled Dot-Product Attention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Computes dynamic alignment energy between decoder state s_t and encoder state h_i:</a:t>
            </a:r>
            <a:br/>
            <a:r>
              <a:t>  e_{t,i} = (s_t^T W_a h_i) / sqrt(2*d_h)</a:t>
            </a:r>
            <a:br/>
            <a:r>
              <a:t>• Normalizes via softmax to produce alignment distribution alpha_{t,i}.</a:t>
            </a:r>
            <a:br/>
            <a:r>
              <a:t>• Dynamic context vector: c_t = sum_i alpha_{t,i} h_i.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96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Pointer-Generator Copy Gate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Trainable generation probability gate: p_gen in [0, 1]</a:t>
            </a:r>
            <a:br/>
            <a:r>
              <a:t>  p_gen = sigma(w_c^T c_t + w_s^T s_t + w_x^T e(y_{t-1}) + b_ptr)</a:t>
            </a:r>
            <a:br/>
            <a:r>
              <a:t>• Emits character distribution:</a:t>
            </a:r>
            <a:br/>
            <a:r>
              <a:t>  P(w) = p_gen * P_vocab(w) + (1 - p_gen) * sum_{i: x_i = w} alpha_{t,i}</a:t>
            </a:r>
            <a:br/>
            <a:r>
              <a:t>• Guarantees 100% preservation of English loanwords by copying source ASCII tokens!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931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96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Multi-Modal OmniProcessor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Universal auto-detection pipeline (pure English, pure Telugu, Tanglish, bi-scriptal).</a:t>
            </a:r>
            <a:br/>
            <a:r>
              <a:t>• Simultaneously generates 4 orthogonal outputs:</a:t>
            </a:r>
            <a:br/>
            <a:r>
              <a:t>  1. Standard Normalized (Telugu script + Preserved English loanwords)</a:t>
            </a:r>
            <a:br/>
            <a:r>
              <a:t>  2. All Telugu Script (Phonetic transliteration)</a:t>
            </a:r>
            <a:br/>
            <a:r>
              <a:t>  3. All Romanized Tenglish</a:t>
            </a:r>
            <a:br/>
            <a:r>
              <a:t>  4. English Semantic Meaning &amp; Gloss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Empirical Benchmark Results &amp; Ablation Analysis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463040"/>
                <a:gridCol w="1554480"/>
                <a:gridCol w="1554480"/>
                <a:gridCol w="1645920"/>
                <a:gridCol w="1584655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Gold CER ↓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Gold BLEU ↑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Gold chrF ↑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English Acc ↑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1. Rule Baseline (64k Lexicon)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--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0.1720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58.40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78.10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2. Vanilla Seq2Seq (No Attn)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2.10M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0.4820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22.10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41.30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12.5%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3. Seq2Seq + Bahdanau Attn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2.78M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0.3120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44.50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62.80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38.2%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4. Seq2Seq + Luong Attn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2.78M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0.2940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48.20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66.40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42.0%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5. Standard Transformer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1.85M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0.3850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35.10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54.20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</a:defRPr>
                      </a:pPr>
                      <a:r>
                        <a:t>29.4%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5F46"/>
                          </a:solidFill>
                        </a:defRPr>
                      </a:pPr>
                      <a:r>
                        <a:t>6. NormMix SOTA (BiGRU + Copy)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65F46"/>
                          </a:solidFill>
                        </a:defRPr>
                      </a:pPr>
                      <a:r>
                        <a:t>3.05M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65F46"/>
                          </a:solidFill>
                        </a:defRPr>
                      </a:pPr>
                      <a:r>
                        <a:t>0.0537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65F46"/>
                          </a:solidFill>
                        </a:defRPr>
                      </a:pPr>
                      <a:r>
                        <a:t>79.84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65F46"/>
                          </a:solidFill>
                        </a:defRPr>
                      </a:pPr>
                      <a:r>
                        <a:t>91.29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065F46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Client Deployment: Web Translation Studio &amp; Chrome Extension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E3A8A"/>
                </a:solidFill>
              </a:defRPr>
            </a:pPr>
            <a:r>
              <a:t>Enterprise Web Translation Studio (web/index.html)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Real-time Phonetic Suggestions Dropdown (Google Input Tools style):</a:t>
            </a:r>
            <a:br/>
            <a:r>
              <a:t>  Typing 'naku' displays interactive choices: 1. నాకు  2. నాకూ  3. నకు.</a:t>
            </a:r>
            <a:br/>
            <a:r>
              <a:t>• Web Speech API Integration: 🎙️ Voice dictation &amp; 🔊 Text-to-Speech audio playback.</a:t>
            </a:r>
            <a:br/>
            <a:r>
              <a:t>• Virtual On-Screen Telugu Keyboard: Interactive drawer for typing Telugu vowels &amp; guninthalu.</a:t>
            </a:r>
            <a:br/>
            <a:r>
              <a:t>• Active Learning Feedback Loop: User 👍/👎 feedback appends to data/feedback.jsonl.</a:t>
            </a:r>
            <a:br/>
            <a:r>
              <a:t>• 1-Click WhatsApp Share &amp; Text Export for immediate digital communication.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3035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E3A8A"/>
                </a:solidFill>
              </a:defRPr>
            </a:pPr>
            <a:r>
              <a:t>Manifest V3 Chrome Browser Extension (chrome-extension/)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Strict Manifest V3 Compliance: Background service worker + popup UI + content scripts.</a:t>
            </a:r>
            <a:br/>
            <a:r>
              <a:t>• Context Menu In Situ Normalization: Right-click highlighted Tenglish on any webpage</a:t>
            </a:r>
            <a:br/>
            <a:r>
              <a:t>  (WhatsApp Web, Twitter, LinkedIn, Gmail) to normalize directly in the browser.</a:t>
            </a:r>
            <a:br/>
            <a:r>
              <a:t>• Popup Modal Translator: Instant omni-directional processing without leaving the active tab.</a:t>
            </a:r>
            <a:br/>
            <a:r>
              <a:t>• Seamless REST API Integration: Powered by local FastAPI backend (http://127.0.0.1:8000).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Objective Positioning: Strengths, Limitations &amp; Unresolved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10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What Existing Systems Do Well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Google Translate &amp; IndicTrans2 excel at formal, literary Telugu script translation.</a:t>
            </a:r>
            <a:br/>
            <a:r>
              <a:t>• Massive scale: Trained on 10M+ parallel pairs.</a:t>
            </a:r>
            <a:br/>
            <a:r>
              <a:t>• Meta SeamlessM4T excels at acoustic speech-to-speech translation.</a:t>
            </a:r>
            <a:br/>
            <a:r>
              <a:t>• IndicXlit covers millions of Indian named entities.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810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Where Existing Systems Are Limited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Commercial tokenizers fail on informal Romanized Tenglish orthography.</a:t>
            </a:r>
            <a:br/>
            <a:r>
              <a:t>• Transliteration tools blindly convert English words (college -&gt; కోల్లెగె).</a:t>
            </a:r>
            <a:br/>
            <a:r>
              <a:t>• Microsoft Translator actively corrupts Tenglish.</a:t>
            </a:r>
            <a:br/>
            <a:r>
              <a:t>• No in situ browser context-menu normalization on social web surfaces.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96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What NormMix AI Specifically Solves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100% preservation of English loanwords via Pointer-Generator copy gate.</a:t>
            </a:r>
            <a:br/>
            <a:r>
              <a:t>• Sub-10ms inference on consumer RTX 4060 GPU (3.05M parameters).</a:t>
            </a:r>
            <a:br/>
            <a:r>
              <a:t>• Omni-directional output: 4 simultaneous target options for every input.</a:t>
            </a:r>
            <a:br/>
            <a:r>
              <a:t>• In situ browser extension integration.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931920"/>
            <a:ext cx="530352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096512"/>
            <a:ext cx="49377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What Remains Unresolved (Honesty)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Deep generative prose: NormMix provides glossing, not full multi-clause English generation.</a:t>
            </a:r>
            <a:br/>
            <a:r>
              <a:t>• Dialectal variance: Needs expansion for Telangana &amp; Rayalaseema colloquial slang.</a:t>
            </a:r>
            <a:br/>
            <a:r>
              <a:t>• Extreme whitespace concatenation (e.g., nenucollegekivelthunna).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ACADEMIC CASE STUDY &amp; RESEARCH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Summary &amp; Future Research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Key Research Insights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1. Telugu MT has progressed from rule-based Paninian parsing to neural transformers.</a:t>
            </a:r>
            <a:br/>
            <a:r>
              <a:t>2. Formal Telugu ↔ English MT is a technologically solved discipline.</a:t>
            </a:r>
            <a:br/>
            <a:r>
              <a:t>3. Real-world communication has shifted to Romanized Tenglish code-mixing.</a:t>
            </a:r>
            <a:br/>
            <a:r>
              <a:t>4. Compact models with copy mechanisms bridge the digital vernacular divide.</a:t>
            </a:r>
            <a:br/>
            <a:r>
              <a:t>5. Multi-modal omni-directional output is essential for bilingual user workflows.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45920"/>
            <a:ext cx="5303520" cy="32918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82880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Seventeen Future Directions</a:t>
            </a:r>
          </a:p>
          <a:p>
            <a:pPr>
              <a:defRPr sz="1150">
                <a:solidFill>
                  <a:srgbClr val="1E293B"/>
                </a:solidFill>
              </a:defRPr>
            </a:pPr>
            <a:r>
              <a:t>• Multi-sentence conversational context disambiguation (kadu -&gt; కాదు vs కడు).</a:t>
            </a:r>
            <a:br/>
            <a:r>
              <a:t>• Personalized user typing orthography profiling.</a:t>
            </a:r>
            <a:br/>
            <a:r>
              <a:t>• Dialectal expansion (Telangana, Rayalaseema, Coastal slang).</a:t>
            </a:r>
            <a:br/>
            <a:r>
              <a:t>• INT4/GGUF quantization for mobile NPU offline edge inference.</a:t>
            </a:r>
            <a:br/>
            <a:r>
              <a:t>• Joint Speech-to-Tenglish transcription using IndicConformer.</a:t>
            </a:r>
            <a:br/>
            <a:r>
              <a:t>• Standardized community benchmarks for Indic code-mixed normalization.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212080"/>
            <a:ext cx="10728655" cy="10972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3628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CENTRAL ACADEMIC CONCLUSION:</a:t>
            </a:r>
            <a:br/>
            <a:r>
              <a:t>The major challenge in Telugu NLP is no longer simply translating formal Telugu and English.</a:t>
            </a:r>
            <a:br/>
            <a:r>
              <a:t>The emerging frontier is understanding, normalizing, and transforming the informal, Romanized, code-mixed language actually used by 95M+ people in digital communication.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